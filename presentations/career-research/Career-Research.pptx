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(sources cited in this presentation):
- Job posting: Workopolis — https://www.workopolis.com/search?q=penetration+testing&amp;l=toronto%2C+on
- Cyber Degrees — https://www.google.com/goto?url=CAESbQHrOzAVuvKyytcMp8qZ0mTzwOrSCll9rBC8zOHm26nSoetJHTTTDjIpoLjMW-gi4NHoCcodIfMH2OlFpVBxiSvE0IBksRcUcQP_yOfuz8FCzf8YhUX9PCM7ZVP-A3Ui1WEXlfKuUy09QadQxag
- Reddit Computer Science Careers — https://www.google.com/goto?url=CAESogEB6zswFUGlOxzK4zlC99M8WUVEkBhpZyhjfndYhvAqtA8QxHy18nav1CwqJjRkp2G5fh-eLHTSteSUtMEP1rig5fGUZI_H9pYryQjTM8DBOua_yhRsWauF_WM3lniVitbatGG2coiu96ZEhrjOVXK6FOYT6EQpojkFyqZr1enwSWB9V9SLRScmvlXVC4_yLp1I51bSaoKgKfOhobssoJmPH1U
- Cyber Degrees Hard Skills Guide
- Morgan McKinley Salary Guide — https://www.google.com/goto?url=CAEShgEB6zswFYIS2cm_ZHV1ndoayICaNd9iTGNDj0bDeKlYDbS02LMpYonXwrIZNvkr62Psu0X27NgrWeqbRoUGU2TMIljEAq8Z5v_EBxyw3R7CfGzvE2vqhmXantysHBeJxkiim8Vi7dPVeUBmgV7qAxq-otqn5xAueW4eh8MBpEx9YAvTN0nEIA
- HackerDNA Salary Breakdown — https://www.google.com/goto?url=CAESbAHrOzAVP-8xiY2nvyemf3p1D0NLozpUyn6MoZQb_jrxAegjNuSK_MJKnnyMsut9h3jta9QQ4hdnZXSQ4B5xe3adZe18Z7cAc0uTHu-jjOyZz3cK31N-eDNLPTqH660snKfdKDG9cPsXYhu_ew
- Linkedin — https://www.google.com/goto?url=CAESnQEB6zswFY3gI8HooCUOMZlkbWX8brxm-HB5bxaJrxlokdg6crOlY52TvCNqrBxAZKScXAsGh4GpNJMBfjxIAFoUJVP0oyEAoSJzmi0zGOq3jP2bjK6RcQXX5QVrkVv2Qx8A8169VIo67IO8P5nEk-nqRcqQZuZoll2aJBal_fz-KXjSd8f1_tJYlSiLxiUEG8YfBOKpLyfbH3hcXPI-
- Ontario Tech University — https://www.google.com/goto?url=CAESUAHrOzAVJjxb4EQt4HhFXr3LnoxtmnlKaVC0Ud1mHk_0r0QSY9G0veLxe66gINS8UWqo4_qdJnjDSOvfXejs5A9StM6O3CyQIBehOuGiPhTs / https://ontariotechu.ca
- Ontario Tech Residence Rates — https://ontariotechuresidence.ca/residence-rates/
- Ontario Tech Meal Plans — https://ontariotechuresidence.ca/meal-plans/
- Ontario Tech Academic Calendar — https://calendar.ontariotechu.ca/preview_{p}rogram.php?catoid=67&amp;poid=14513
- Uniscope Ontario Tech Overview — https://uniscope.ca/ontario-tech-university
- Ontario Tech University Program Calendar Guide — https://www.google.com/goto?url=CAESgQEB6zswFXN5eWAPMVkgrPky8q2qHsbuBWj0X-_VM-HprL_8ZfApUfWJDYPua7ui4wT7ezzvHPok-dA9B2n8Vk7gkWUk4B0N-7qbgb7inryjgBGiZgs3TGzQgbq_Xt0EGtlHs446l2kT8HHJxfD3-x8kVBOWmEZyQVC7czRKAzRen1M
- "AI Is at a Turning Point" — https://www.google.com/goto?url=CAESdQHrOzAV5AsfkWQvSCDt8XiUaWOH0uCzK9FDH8AWJw475UIQHwXOJUlA-OCRN0bpjyGZc4AaXdZ1aUHp7pZpffh5LOHsMOqPl0meRwg5ZB2yw9Vi_IN8fwQtU1VOF4_xYcs6mOe0m0-46N23mYY1VrC4ejqmYQ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Workopolis job posting — https://www.workopolis.com/search?q=penetration+testing&amp;l=toronto%2C+on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Cyber Degrees — https://www.google.com/goto?url=CAESbQHrOzAVuvKyytcMp8qZ0mTzwOrSCll9rBC8zOHm26nSoetJHTTTDjIpoLjMW-gi4NHoCcodIfMH2OlFpVBxiSvE0IBksRcUcQP_yOfuz8FCzf8YhUX9PCM7ZVP-A3Ui1WEXlfKuUy09QadQxag
- Reddit Computer Science Careers — https://www.google.com/goto?url=CAESogEB6zswFUGlOxzK4zlC99M8WUVEkBhpZyhjfndYhvAqtA8QxHy18nav1CwqJjRkp2G5fh-eLHTSteSUtMEP1rig5fGUZI_H9pYryQjTM8DBOua_yhRsWauF_WM3lniVitbatGG2coiu96ZEhrjOVXK6FOYT6EQpojkFyqZr1enwSWB9V9SLRScmvlXVC4_yLp1I51bSaoKgKfOhobssoJmPH1U
- Cyber Degrees Hard Skills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Morgan McKinley Salary Guide — https://www.google.com/goto?url=CAEShgEB6zswFYIS2cm_ZHV1ndoayICaNd9iTGNDj0bDeKlYDbS02LMpYonXwrIZNvkr62Psu0X27NgrWeqbRoUGU2TMIljEAq8Z5v_EBxyw3R7CfGzvE2vqhmXantysHBeJxkiim8Vi7dPVeUBmgV7qAxq-otqn5xAueW4eh8MBpEx9YAvTN0nEIA
- HackerDNA Salary Breakdown — https://www.google.com/goto?url=CAESbAHrOzAVP-8xiY2nvyemf3p1D0NLozpUyn6MoZQb_jrxAegjNuSK_MJKnnyMsut9h3jta9QQ4hdnZXSQ4B5xe3adZe18Z7cAc0uTHu-jjOyZz3cK31N-eDNLPTqH660snKfdKDG9cPsXYhu_ew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Linkedin — https://www.google.com/goto?url=CAESnQEB6zswFY3gI8HooCUOMZlkbWX8brxm-HB5bxaJrxlokdg6crOlY52TvCNqrBxAZKScXAsGh4GpNJMBfjxIAFoUJVP0oyEAoSJzmi0zGOq3jP2bjK6RcQXX5QVrkVv2Qx8A8169VIo67IO8P5nEk-nqRcqQZuZoll2aJBal_fz-KXjSd8f1_tJYlSiLxiUEG8YfBOKpLyfbH3hcXPI-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Ontario Tech University — https://www.google.com/goto?url=CAESUAHrOzAVJjxb4EQt4HhFXr3LnoxtmnlKaVC0Ud1mHk_0r0QSY9G0veLxe66gINS8UWqo4_qdJnjDSOvfXejs5A9StM6O3CyQIBehOuGiPhTs
- Ontario Tech Domestic Tuition / International Tuition — https://ontariotechu.ca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Ontario Tech Residence Rates — https://ontariotechuresidence.ca/residence-rates/
- Ontario Tech Meal Plans — https://ontariotechuresidence.ca/meal-plans/
- Ontario Tech Academic Calendar — https://calendar.ontariotechu.ca/preview_{p}rogram.php?catoid=67&amp;poid=14513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Ontario Tech Academic Calendar — https://calendar.ontariotechu.ca/preview_{p}rogram.php?catoid=67&amp;poid=14513
- Uniscope Ontario Tech Overview — https://uniscope.ca/ontario-tech-university
- Ontario Tech University Program Calendar Guide — https://www.google.com/goto?url=CAESgQEB6zswFXN5eWAPMVkgrPky8q2qHsbuBWj0X-_VM-HprL_8ZfApUfWJDYPua7ui4wT7ezzvHPok-dA9B2n8Vk7gkWUk4B0N-7qbgb7inryjgBGiZgs3TGzQgbq_Xt0EGtlHs446l2kT8HHJxfD3-x8kVBOWmEZyQVC7czRKAzRen1M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"AI Is at a Turning Point" — https://www.google.com/goto?url=CAESdQHrOzAV5AsfkWQvSCDt8XiUaWOH0uCzK9FDH8AWJw475UIQHwXOJUlA-OCRN0bpjyGZc4AaXdZ1aUHp7pZpffh5LOHsMOqPl0meRwg5ZB2yw9Vi_IN8fwQtU1VOF4_xYcs6mOe0m0-46N23mYY1VrC4ejqmYQ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www.workopolis.com/search?q=penetration+testing&amp;l=toronto%2C+on" TargetMode="External"/><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goto?url=CAESbQHrOzAVuvKyytcMp8qZ0mTzwOrSCll9rBC8zOHm26nSoetJHTTTDjIpoLjMW-gi4NHoCcodIfMH2OlFpVBxiSvE0IBksRcUcQP_yOfuz8FCzf8YhUX9PCM7ZVP-A3Ui1WEXlfKuUy09QadQxag" TargetMode="External"/><Relationship Id="rId5" Type="http://schemas.openxmlformats.org/officeDocument/2006/relationships/hyperlink" Target="https://www.google.com/goto?url=CAESogEB6zswFUGlOxzK4zlC99M8WUVEkBhpZyhjfndYhvAqtA8QxHy18nav1CwqJjRkp2G5fh-eLHTSteSUtMEP1rig5fGUZI_H9pYryQjTM8DBOua_yhRsWauF_WM3lniVitbatGG2coiu96ZEhrjOVXK6FOYT6EQpojkFyqZr1enwSWB9V9SLRScmvlXVC4_yLp1I51bSaoKgKfOhobssoJmPH1U" TargetMode="External"/><Relationship Id="rId1" Type="http://schemas.openxmlformats.org/officeDocument/2006/relationships/image" Target="../media/Slide-4-image-1.png"/><Relationship Id="rId2" Type="http://schemas.openxmlformats.org/officeDocument/2006/relationships/image" Target="../media/image-4-2.png"/><Relationship Id="rId4"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goto?url=CAEShgEB6zswFYIS2cm_ZHV1ndoayICaNd9iTGNDj0bDeKlYDbS02LMpYonXwrIZNvkr62Psu0X27NgrWeqbRoUGU2TMIljEAq8Z5v_EBxyw3R7CfGzvE2vqhmXantysHBeJxkiim8Vi7dPVeUBmgV7qAxq-otqn5xAueW4eh8MBpEx9YAvTN0nEIA" TargetMode="External"/><Relationship Id="rId5" Type="http://schemas.openxmlformats.org/officeDocument/2006/relationships/hyperlink" Target="https://www.google.com/goto?url=CAESbAHrOzAVP-8xiY2nvyemf3p1D0NLozpUyn6MoZQb_jrxAegjNuSK_MJKnnyMsut9h3jta9QQ4hdnZXSQ4B5xe3adZe18Z7cAc0uTHu-jjOyZz3cK31N-eDNLPTqH660snKfdKDG9cPsXYhu_ew" TargetMode="External"/><Relationship Id="rId1" Type="http://schemas.openxmlformats.org/officeDocument/2006/relationships/image" Target="../media/Slide-5-image-1.png"/><Relationship Id="rId2" Type="http://schemas.openxmlformats.org/officeDocument/2006/relationships/image" Target="../media/image-5-2.png"/><Relationship Id="rId4"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goto?url=CAESnQEB6zswFY3gI8HooCUOMZlkbWX8brxm-HB5bxaJrxlokdg6crOlY52TvCNqrBxAZKScXAsGh4GpNJMBfjxIAFoUJVP0oyEAoSJzmi0zGOq3jP2bjK6RcQXX5QVrkVv2Qx8A8169VIo67IO8P5nEk-nqRcqQZuZoll2aJBal_fz-KXjSd8f1_tJYlSiLxiUEG8YfBOKpLyfbH3hcXPI-" TargetMode="External"/><Relationship Id="rId4" Type="http://schemas.openxmlformats.org/officeDocument/2006/relationships/hyperlink" Target="https://www.google.com/goto?url=CAESnQEB6zswFY3gI8HooCUOMZlkbWX8brxm-HB5bxaJrxlokdg6crOlY52TvCNqrBxAZKScXAsGh4GpNJMBfjxIAFoUJVP0oyEAoSJzmi0zGOq3jP2bjK6RcQXX5QVrkVv2Qx8A8169VIo67IO8P5nEk-nqRcqQZuZoll2aJBal_fz-KXjSd8f1_tJYlSiLxiUEG8YfBOKpLyfbH3hcXPI-" TargetMode="External"/><Relationship Id="rId1" Type="http://schemas.openxmlformats.org/officeDocument/2006/relationships/image" Target="../media/Slide-6-image-1.png"/><Relationship Id="rId2"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goto?url=CAESUAHrOzAVJjxb4EQt4HhFXr3LnoxtmnlKaVC0Ud1mHk_0r0QSY9G0veLxe66gINS8UWqo4_qdJnjDSOvfXejs5A9StM6O3CyQIBehOuGiPhTs" TargetMode="External"/><Relationship Id="rId7" Type="http://schemas.openxmlformats.org/officeDocument/2006/relationships/hyperlink" Target="https://ontariotechu.ca" TargetMode="External"/><Relationship Id="rId8" Type="http://schemas.openxmlformats.org/officeDocument/2006/relationships/hyperlink" Target="https://ontariotechu.ca" TargetMode="External"/><Relationship Id="rId1" Type="http://schemas.openxmlformats.org/officeDocument/2006/relationships/image" Target="../media/Slide-8-image-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ontariotechuresidence.ca/residence-rates/" TargetMode="External"/><Relationship Id="rId5" Type="http://schemas.openxmlformats.org/officeDocument/2006/relationships/hyperlink" Target="https://ontariotechuresidence.ca/meal-plans/" TargetMode="External"/><Relationship Id="rId7" Type="http://schemas.openxmlformats.org/officeDocument/2006/relationships/hyperlink" Target="https://calendar.ontariotechu.ca/preview_%7Bp%7Drogram.php?catoid=67&amp;poid=14513" TargetMode="External"/><Relationship Id="rId8" Type="http://schemas.openxmlformats.org/officeDocument/2006/relationships/hyperlink" Target="https://calendar.ontariotechu.ca/preview_%7Bp%7Drogram.php?catoid=67&amp;poid=14513" TargetMode="External"/><Relationship Id="rId9" Type="http://schemas.openxmlformats.org/officeDocument/2006/relationships/hyperlink" Target="https://calendar.ontariotechu.ca/preview_%7Bp%7Drogram.php?catoid=67&amp;poid=14513" TargetMode="External"/><Relationship Id="rId10" Type="http://schemas.openxmlformats.org/officeDocument/2006/relationships/hyperlink" Target="https://calendar.ontariotechu.ca/preview_%7Bp%7Drogram.php?catoid=67&amp;poid=14513" TargetMode="External"/><Relationship Id="rId1" Type="http://schemas.openxmlformats.org/officeDocument/2006/relationships/image" Target="../media/Slide-9-image-1.png"/><Relationship Id="rId2" Type="http://schemas.openxmlformats.org/officeDocument/2006/relationships/image" Target="../media/image-9-2.png"/><Relationship Id="rId4" Type="http://schemas.openxmlformats.org/officeDocument/2006/relationships/image" Target="../media/image-9-3.png"/><Relationship Id="rId6" Type="http://schemas.openxmlformats.org/officeDocument/2006/relationships/image" Target="../media/image-9-4.png"/><Relationship Id="rId11" Type="http://schemas.openxmlformats.org/officeDocument/2006/relationships/image" Target="../media/image-9-5.png"/><Relationship Id="rId12" Type="http://schemas.openxmlformats.org/officeDocument/2006/relationships/image" Target="../media/image-9-6.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calendar.ontariotechu.ca/preview_%7Bp%7Drogram.php?catoid=67&amp;poid=14513" TargetMode="External"/><Relationship Id="rId4" Type="http://schemas.openxmlformats.org/officeDocument/2006/relationships/hyperlink" Target="https://uniscope.ca/ontario-tech-university" TargetMode="External"/><Relationship Id="rId5" Type="http://schemas.openxmlformats.org/officeDocument/2006/relationships/hyperlink" Target="https://calendar.ontariotechu.ca/preview_%7Bp%7Drogram.php?catoid=67&amp;poid=14513" TargetMode="External"/><Relationship Id="rId7" Type="http://schemas.openxmlformats.org/officeDocument/2006/relationships/hyperlink" Target="https://www.google.com/goto?url=CAESgQEB6zswFXN5eWAPMVkgrPky8q2qHsbuBWj0X-_VM-HprL_8ZfApUfWJDYPua7ui4wT7ezzvHPok-dA9B2n8Vk7gkWUk4B0N-7qbgb7inryjgBGiZgs3TGzQgbq_Xt0EGtlHs446l2kT8HHJxfD3-x8kVBOWmEZyQVC7czRKAzRen1M" TargetMode="External"/><Relationship Id="rId1" Type="http://schemas.openxmlformats.org/officeDocument/2006/relationships/image" Target="../media/Slide-10-image-1.png"/><Relationship Id="rId2" Type="http://schemas.openxmlformats.org/officeDocument/2006/relationships/image" Target="../media/image-10-2.png"/><Relationship Id="rId6" Type="http://schemas.openxmlformats.org/officeDocument/2006/relationships/image" Target="../media/image-10-3.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ogle.com/goto?url=CAESdQHrOzAV5AsfkWQvSCDt8XiUaWOH0uCzK9FDH8AWJw475UIQHwXOJUlA-OCRN0bpjyGZc4AaXdZ1aUHp7pZpffh5LOHsMOqPl0meRwg5ZB2yw9Vi_IN8fwQtU1VOF4_xYcs6mOe0m0-46N23mYY1VrC4ejqmYQ" TargetMode="External"/><Relationship Id="rId1" Type="http://schemas.openxmlformats.org/officeDocument/2006/relationships/image" Target="../media/Slide-12-image-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49640" y="1417320"/>
            <a:ext cx="2651760" cy="2651760"/>
          </a:xfrm>
          <a:prstGeom prst="ellipse">
            <a:avLst/>
          </a:prstGeom>
          <a:solidFill>
            <a:srgbClr val="00E5A0">
              <a:alpha val="12000"/>
            </a:srgbClr>
          </a:solidFill>
          <a:ln w="19050">
            <a:solidFill>
              <a:srgbClr val="00E5A0">
                <a:alpha val="70000"/>
              </a:srgbClr>
            </a:solidFill>
            <a:prstDash val="solid"/>
          </a:ln>
          <a:effectLst>
            <a:outerShdw sx="100000" sy="100000" kx="0" ky="0" algn="bl" rotWithShape="0" blurRad="254000" dist="50800" dir="5400000">
              <a:srgbClr val="00E5A0">
                <a:alpha val="35000"/>
              </a:srgbClr>
            </a:outerShdw>
          </a:effectLst>
        </p:spPr>
      </p:sp>
      <p:sp>
        <p:nvSpPr>
          <p:cNvPr id="3" name="Shape 1"/>
          <p:cNvSpPr/>
          <p:nvPr/>
        </p:nvSpPr>
        <p:spPr>
          <a:xfrm>
            <a:off x="8915400" y="1783080"/>
            <a:ext cx="1920240" cy="1920240"/>
          </a:xfrm>
          <a:prstGeom prst="ellipse">
            <a:avLst/>
          </a:prstGeom>
          <a:solidFill>
            <a:srgbClr val="00E5A0">
              <a:alpha val="30000"/>
            </a:srgbClr>
          </a:solidFill>
          <a:ln w="12700">
            <a:solidFill>
              <a:srgbClr val="00E5A0"/>
            </a:solidFill>
            <a:prstDash val="solid"/>
          </a:ln>
        </p:spPr>
      </p:sp>
      <p:pic>
        <p:nvPicPr>
          <p:cNvPr id="4" name="Image 0" descr="preencoded.png">    </p:cNvPr>
          <p:cNvPicPr>
            <a:picLocks noChangeAspect="1"/>
          </p:cNvPicPr>
          <p:nvPr/>
        </p:nvPicPr>
        <p:blipFill>
          <a:blip r:embed="rId2"/>
          <a:stretch>
            <a:fillRect/>
          </a:stretch>
        </p:blipFill>
        <p:spPr>
          <a:xfrm>
            <a:off x="9326880" y="2194560"/>
            <a:ext cx="1097280" cy="1097280"/>
          </a:xfrm>
          <a:prstGeom prst="rect">
            <a:avLst/>
          </a:prstGeom>
        </p:spPr>
      </p:pic>
      <p:sp>
        <p:nvSpPr>
          <p:cNvPr id="5" name="Text 2"/>
          <p:cNvSpPr txBox="1"/>
          <p:nvPr/>
        </p:nvSpPr>
        <p:spPr>
          <a:xfrm>
            <a:off x="731520" y="1371600"/>
            <a:ext cx="7315200" cy="320040"/>
          </a:xfrm>
          <a:prstGeom prst="rect">
            <a:avLst/>
          </a:prstGeom>
          <a:noFill/>
          <a:ln/>
        </p:spPr>
        <p:txBody>
          <a:bodyPr wrap="square" lIns="0" tIns="0" rIns="0" bIns="0" rtlCol="0" anchor="ctr"/>
          <a:lstStyle/>
          <a:p>
            <a:pPr indent="0" marL="0">
              <a:buNone/>
            </a:pPr>
            <a:r>
              <a:rPr lang="en-US" sz="1200" spc="400" kern="0" dirty="0">
                <a:solidFill>
                  <a:srgbClr val="00E5A0"/>
                </a:solidFill>
                <a:latin typeface="Courier New" pitchFamily="34" charset="0"/>
                <a:ea typeface="Courier New" pitchFamily="34" charset="-122"/>
                <a:cs typeface="Courier New" pitchFamily="34" charset="-120"/>
              </a:rPr>
              <a:t>// U1-1 · CAREER RESEARCH</a:t>
            </a:r>
            <a:endParaRPr lang="en-US" sz="1200" dirty="0"/>
          </a:p>
        </p:txBody>
      </p:sp>
      <p:sp>
        <p:nvSpPr>
          <p:cNvPr id="6" name="Text 3"/>
          <p:cNvSpPr txBox="1"/>
          <p:nvPr/>
        </p:nvSpPr>
        <p:spPr>
          <a:xfrm>
            <a:off x="731520" y="1737360"/>
            <a:ext cx="7680960" cy="118872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Career Research</a:t>
            </a:r>
            <a:endParaRPr lang="en-US" sz="6400" dirty="0"/>
          </a:p>
        </p:txBody>
      </p:sp>
      <p:sp>
        <p:nvSpPr>
          <p:cNvPr id="7" name="Shape 4"/>
          <p:cNvSpPr/>
          <p:nvPr/>
        </p:nvSpPr>
        <p:spPr>
          <a:xfrm>
            <a:off x="731520" y="3154680"/>
            <a:ext cx="5120640" cy="457200"/>
          </a:xfrm>
          <a:prstGeom prst="roundRect">
            <a:avLst>
              <a:gd name="adj" fmla="val 50000"/>
            </a:avLst>
          </a:prstGeom>
          <a:solidFill>
            <a:srgbClr val="111A2E">
              <a:alpha val="80000"/>
            </a:srgbClr>
          </a:solidFill>
          <a:ln w="9525">
            <a:solidFill>
              <a:srgbClr val="23304A"/>
            </a:solidFill>
            <a:prstDash val="solid"/>
          </a:ln>
        </p:spPr>
      </p:sp>
      <p:sp>
        <p:nvSpPr>
          <p:cNvPr id="8" name="Shape 5"/>
          <p:cNvSpPr/>
          <p:nvPr/>
        </p:nvSpPr>
        <p:spPr>
          <a:xfrm>
            <a:off x="822960" y="3227832"/>
            <a:ext cx="310896" cy="310896"/>
          </a:xfrm>
          <a:prstGeom prst="ellipse">
            <a:avLst/>
          </a:prstGeom>
          <a:solidFill>
            <a:srgbClr val="00E5A0">
              <a:alpha val="20000"/>
            </a:srgbClr>
          </a:solidFill>
          <a:ln w="12700">
            <a:solidFill>
              <a:srgbClr val="00E5A0"/>
            </a:solidFill>
            <a:prstDash val="solid"/>
          </a:ln>
        </p:spPr>
      </p:sp>
      <p:pic>
        <p:nvPicPr>
          <p:cNvPr id="9" name="Image 1" descr="preencoded.png">    </p:cNvPr>
          <p:cNvPicPr>
            <a:picLocks noChangeAspect="1"/>
          </p:cNvPicPr>
          <p:nvPr/>
        </p:nvPicPr>
        <p:blipFill>
          <a:blip r:embed="rId3"/>
          <a:stretch>
            <a:fillRect/>
          </a:stretch>
        </p:blipFill>
        <p:spPr>
          <a:xfrm>
            <a:off x="896112" y="3300984"/>
            <a:ext cx="164592" cy="164592"/>
          </a:xfrm>
          <a:prstGeom prst="rect">
            <a:avLst/>
          </a:prstGeom>
        </p:spPr>
      </p:pic>
      <p:sp>
        <p:nvSpPr>
          <p:cNvPr id="10" name="Text 6"/>
          <p:cNvSpPr txBox="1"/>
          <p:nvPr/>
        </p:nvSpPr>
        <p:spPr>
          <a:xfrm>
            <a:off x="1261872" y="3154680"/>
            <a:ext cx="4480560" cy="457200"/>
          </a:xfrm>
          <a:prstGeom prst="rect">
            <a:avLst/>
          </a:prstGeom>
          <a:noFill/>
          <a:ln/>
        </p:spPr>
        <p:txBody>
          <a:bodyPr wrap="square" lIns="0" tIns="0" rIns="0" bIns="0" rtlCol="0" anchor="ctr"/>
          <a:lstStyle/>
          <a:p>
            <a:pPr indent="0" marL="0">
              <a:buNone/>
            </a:pPr>
            <a:r>
              <a:rPr lang="en-US" sz="1600" dirty="0">
                <a:solidFill>
                  <a:srgbClr val="F1F5F9"/>
                </a:solidFill>
                <a:latin typeface="Arial" pitchFamily="34" charset="0"/>
                <a:ea typeface="Arial" pitchFamily="34" charset="-122"/>
                <a:cs typeface="Arial" pitchFamily="34" charset="-120"/>
              </a:rPr>
              <a:t>Slides Due Sep 11</a:t>
            </a:r>
            <a:endParaRPr lang="en-US" sz="1600" dirty="0"/>
          </a:p>
        </p:txBody>
      </p:sp>
      <p:sp>
        <p:nvSpPr>
          <p:cNvPr id="11" name="Shape 7"/>
          <p:cNvSpPr/>
          <p:nvPr/>
        </p:nvSpPr>
        <p:spPr>
          <a:xfrm>
            <a:off x="731520" y="3721608"/>
            <a:ext cx="5120640" cy="457200"/>
          </a:xfrm>
          <a:prstGeom prst="roundRect">
            <a:avLst>
              <a:gd name="adj" fmla="val 50000"/>
            </a:avLst>
          </a:prstGeom>
          <a:solidFill>
            <a:srgbClr val="111A2E">
              <a:alpha val="80000"/>
            </a:srgbClr>
          </a:solidFill>
          <a:ln w="9525">
            <a:solidFill>
              <a:srgbClr val="23304A"/>
            </a:solidFill>
            <a:prstDash val="solid"/>
          </a:ln>
        </p:spPr>
      </p:sp>
      <p:sp>
        <p:nvSpPr>
          <p:cNvPr id="12" name="Shape 8"/>
          <p:cNvSpPr/>
          <p:nvPr/>
        </p:nvSpPr>
        <p:spPr>
          <a:xfrm>
            <a:off x="822960" y="3794760"/>
            <a:ext cx="310896" cy="310896"/>
          </a:xfrm>
          <a:prstGeom prst="ellipse">
            <a:avLst/>
          </a:prstGeom>
          <a:solidFill>
            <a:srgbClr val="00E5A0">
              <a:alpha val="20000"/>
            </a:srgbClr>
          </a:solidFill>
          <a:ln w="12700">
            <a:solidFill>
              <a:srgbClr val="00E5A0"/>
            </a:solidFill>
            <a:prstDash val="solid"/>
          </a:ln>
        </p:spPr>
      </p:sp>
      <p:pic>
        <p:nvPicPr>
          <p:cNvPr id="13" name="Image 2" descr="preencoded.png">    </p:cNvPr>
          <p:cNvPicPr>
            <a:picLocks noChangeAspect="1"/>
          </p:cNvPicPr>
          <p:nvPr/>
        </p:nvPicPr>
        <p:blipFill>
          <a:blip r:embed="rId4"/>
          <a:stretch>
            <a:fillRect/>
          </a:stretch>
        </p:blipFill>
        <p:spPr>
          <a:xfrm>
            <a:off x="896112" y="3867912"/>
            <a:ext cx="164592" cy="164592"/>
          </a:xfrm>
          <a:prstGeom prst="rect">
            <a:avLst/>
          </a:prstGeom>
        </p:spPr>
      </p:pic>
      <p:sp>
        <p:nvSpPr>
          <p:cNvPr id="14" name="Text 9"/>
          <p:cNvSpPr txBox="1"/>
          <p:nvPr/>
        </p:nvSpPr>
        <p:spPr>
          <a:xfrm>
            <a:off x="1261872" y="3721608"/>
            <a:ext cx="4480560" cy="457200"/>
          </a:xfrm>
          <a:prstGeom prst="rect">
            <a:avLst/>
          </a:prstGeom>
          <a:noFill/>
          <a:ln/>
        </p:spPr>
        <p:txBody>
          <a:bodyPr wrap="square" lIns="0" tIns="0" rIns="0" bIns="0" rtlCol="0" anchor="ctr"/>
          <a:lstStyle/>
          <a:p>
            <a:pPr indent="0" marL="0">
              <a:buNone/>
            </a:pPr>
            <a:r>
              <a:rPr lang="en-US" sz="1600" dirty="0">
                <a:solidFill>
                  <a:srgbClr val="F1F5F9"/>
                </a:solidFill>
                <a:latin typeface="Arial" pitchFamily="34" charset="0"/>
                <a:ea typeface="Arial" pitchFamily="34" charset="-122"/>
                <a:cs typeface="Arial" pitchFamily="34" charset="-120"/>
              </a:rPr>
              <a:t>Present Sep 11</a:t>
            </a:r>
            <a:endParaRPr lang="en-US" sz="1600" dirty="0"/>
          </a:p>
        </p:txBody>
      </p:sp>
      <p:sp>
        <p:nvSpPr>
          <p:cNvPr id="15" name="Shape 10"/>
          <p:cNvSpPr/>
          <p:nvPr/>
        </p:nvSpPr>
        <p:spPr>
          <a:xfrm>
            <a:off x="731520" y="4288536"/>
            <a:ext cx="5120640" cy="457200"/>
          </a:xfrm>
          <a:prstGeom prst="roundRect">
            <a:avLst>
              <a:gd name="adj" fmla="val 50000"/>
            </a:avLst>
          </a:prstGeom>
          <a:solidFill>
            <a:srgbClr val="111A2E">
              <a:alpha val="80000"/>
            </a:srgbClr>
          </a:solidFill>
          <a:ln w="9525">
            <a:solidFill>
              <a:srgbClr val="23304A"/>
            </a:solidFill>
            <a:prstDash val="solid"/>
          </a:ln>
        </p:spPr>
      </p:sp>
      <p:sp>
        <p:nvSpPr>
          <p:cNvPr id="16" name="Shape 11"/>
          <p:cNvSpPr/>
          <p:nvPr/>
        </p:nvSpPr>
        <p:spPr>
          <a:xfrm>
            <a:off x="822960" y="4361688"/>
            <a:ext cx="310896" cy="310896"/>
          </a:xfrm>
          <a:prstGeom prst="ellipse">
            <a:avLst/>
          </a:prstGeom>
          <a:solidFill>
            <a:srgbClr val="00E5A0">
              <a:alpha val="20000"/>
            </a:srgbClr>
          </a:solidFill>
          <a:ln w="12700">
            <a:solidFill>
              <a:srgbClr val="00E5A0"/>
            </a:solidFill>
            <a:prstDash val="solid"/>
          </a:ln>
        </p:spPr>
      </p:sp>
      <p:pic>
        <p:nvPicPr>
          <p:cNvPr id="17" name="Image 3" descr="preencoded.png">    </p:cNvPr>
          <p:cNvPicPr>
            <a:picLocks noChangeAspect="1"/>
          </p:cNvPicPr>
          <p:nvPr/>
        </p:nvPicPr>
        <p:blipFill>
          <a:blip r:embed="rId5"/>
          <a:stretch>
            <a:fillRect/>
          </a:stretch>
        </p:blipFill>
        <p:spPr>
          <a:xfrm>
            <a:off x="896112" y="4434840"/>
            <a:ext cx="164592" cy="164592"/>
          </a:xfrm>
          <a:prstGeom prst="rect">
            <a:avLst/>
          </a:prstGeom>
        </p:spPr>
      </p:pic>
      <p:sp>
        <p:nvSpPr>
          <p:cNvPr id="18" name="Text 12"/>
          <p:cNvSpPr txBox="1"/>
          <p:nvPr/>
        </p:nvSpPr>
        <p:spPr>
          <a:xfrm>
            <a:off x="1261872" y="4288536"/>
            <a:ext cx="4480560" cy="457200"/>
          </a:xfrm>
          <a:prstGeom prst="rect">
            <a:avLst/>
          </a:prstGeom>
          <a:noFill/>
          <a:ln/>
        </p:spPr>
        <p:txBody>
          <a:bodyPr wrap="square" lIns="0" tIns="0" rIns="0" bIns="0" rtlCol="0" anchor="ctr"/>
          <a:lstStyle/>
          <a:p>
            <a:pPr indent="0" marL="0">
              <a:buNone/>
            </a:pPr>
            <a:r>
              <a:rPr lang="en-US" sz="1600" dirty="0">
                <a:solidFill>
                  <a:srgbClr val="F1F5F9"/>
                </a:solidFill>
                <a:latin typeface="Arial" pitchFamily="34" charset="0"/>
                <a:ea typeface="Arial" pitchFamily="34" charset="-122"/>
                <a:cs typeface="Arial" pitchFamily="34" charset="-120"/>
              </a:rPr>
              <a:t>Add Reference in the notes section…</a:t>
            </a:r>
            <a:endParaRPr lang="en-US" sz="1600" dirty="0"/>
          </a:p>
        </p:txBody>
      </p:sp>
      <p:sp>
        <p:nvSpPr>
          <p:cNvPr id="19" name="Text 13"/>
          <p:cNvSpPr txBox="1"/>
          <p:nvPr/>
        </p:nvSpPr>
        <p:spPr>
          <a:xfrm>
            <a:off x="731520" y="5257800"/>
            <a:ext cx="914400" cy="411480"/>
          </a:xfrm>
          <a:prstGeom prst="rect">
            <a:avLst/>
          </a:prstGeom>
          <a:noFill/>
          <a:ln/>
        </p:spPr>
        <p:txBody>
          <a:bodyPr wrap="square" lIns="0" tIns="0" rIns="0" bIns="0" rtlCol="0" anchor="ctr"/>
          <a:lstStyle/>
          <a:p>
            <a:pPr indent="0" marL="0">
              <a:buNone/>
            </a:pPr>
            <a:r>
              <a:rPr lang="en-US" sz="1400" spc="200" kern="0" dirty="0">
                <a:solidFill>
                  <a:srgbClr val="9FB0C8"/>
                </a:solidFill>
                <a:latin typeface="Courier New" pitchFamily="34" charset="0"/>
                <a:ea typeface="Courier New" pitchFamily="34" charset="-122"/>
                <a:cs typeface="Courier New" pitchFamily="34" charset="-120"/>
              </a:rPr>
              <a:t>By:</a:t>
            </a:r>
            <a:endParaRPr lang="en-US" sz="1400" dirty="0"/>
          </a:p>
        </p:txBody>
      </p:sp>
      <p:sp>
        <p:nvSpPr>
          <p:cNvPr id="20" name="Shape 14"/>
          <p:cNvSpPr/>
          <p:nvPr/>
        </p:nvSpPr>
        <p:spPr>
          <a:xfrm>
            <a:off x="1371600" y="5596128"/>
            <a:ext cx="3657600" cy="0"/>
          </a:xfrm>
          <a:prstGeom prst="line">
            <a:avLst/>
          </a:prstGeom>
          <a:noFill/>
          <a:ln w="15875">
            <a:solidFill>
              <a:srgbClr val="00E5A0"/>
            </a:solidFill>
            <a:prstDash val="dash"/>
          </a:ln>
        </p:spPr>
      </p:sp>
      <p:sp>
        <p:nvSpPr>
          <p:cNvPr id="21" name="Text 15"/>
          <p:cNvSpPr txBox="1"/>
          <p:nvPr/>
        </p:nvSpPr>
        <p:spPr>
          <a:xfrm>
            <a:off x="731520" y="6355080"/>
            <a:ext cx="8229600" cy="274320"/>
          </a:xfrm>
          <a:prstGeom prst="rect">
            <a:avLst/>
          </a:prstGeom>
          <a:noFill/>
          <a:ln/>
        </p:spPr>
        <p:txBody>
          <a:bodyPr wrap="square" lIns="0" tIns="0" rIns="0" bIns="0" rtlCol="0" anchor="ctr"/>
          <a:lstStyle/>
          <a:p>
            <a:pPr indent="0" marL="0">
              <a:buNone/>
            </a:pPr>
            <a:r>
              <a:rPr lang="en-US" sz="900" spc="300" kern="0" dirty="0">
                <a:solidFill>
                  <a:srgbClr val="5B6B85"/>
                </a:solidFill>
                <a:latin typeface="Courier New" pitchFamily="34" charset="0"/>
                <a:ea typeface="Courier New" pitchFamily="34" charset="-122"/>
                <a:cs typeface="Courier New" pitchFamily="34" charset="-120"/>
              </a:rPr>
              <a:t>OFFENSIVE SECURITY · ONTARIO TECH · EMERGING TECHNOLOGY</a:t>
            </a:r>
            <a:endParaRPr lang="en-US" sz="900" dirty="0"/>
          </a:p>
        </p:txBody>
      </p:sp>
      <p:sp>
        <p:nvSpPr>
          <p:cNvPr id="23" name="Text 16"/>
          <p:cNvSpPr txBox="1"/>
          <p:nvPr/>
        </p:nvSpPr>
        <p:spPr>
          <a:xfrm>
            <a:off x="10362895" y="635508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02  JOBS THAT REQUIRE PROGRAMMING</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Make a list of at least 7 jobs that require programming</a:t>
            </a:r>
            <a:endParaRPr lang="en-US" sz="3000" dirty="0"/>
          </a:p>
        </p:txBody>
      </p:sp>
      <p:sp>
        <p:nvSpPr>
          <p:cNvPr id="4" name="Shape 2"/>
          <p:cNvSpPr/>
          <p:nvPr/>
        </p:nvSpPr>
        <p:spPr>
          <a:xfrm>
            <a:off x="548640" y="169164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749808" y="1892808"/>
            <a:ext cx="548640" cy="548640"/>
          </a:xfrm>
          <a:prstGeom prst="ellipse">
            <a:avLst/>
          </a:prstGeom>
          <a:solidFill>
            <a:srgbClr val="00E5A0">
              <a:alpha val="18000"/>
            </a:srgbClr>
          </a:solidFill>
          <a:ln w="9525">
            <a:solidFill>
              <a:srgbClr val="00E5A0">
                <a:alpha val="60000"/>
              </a:srgbClr>
            </a:solidFill>
            <a:prstDash val="solid"/>
          </a:ln>
        </p:spPr>
      </p:sp>
      <p:pic>
        <p:nvPicPr>
          <p:cNvPr id="6" name="Image 0" descr="preencoded.png">    </p:cNvPr>
          <p:cNvPicPr>
            <a:picLocks noChangeAspect="1"/>
          </p:cNvPicPr>
          <p:nvPr/>
        </p:nvPicPr>
        <p:blipFill>
          <a:blip r:embed="rId2"/>
          <a:stretch>
            <a:fillRect/>
          </a:stretch>
        </p:blipFill>
        <p:spPr>
          <a:xfrm>
            <a:off x="897941" y="2040941"/>
            <a:ext cx="252374" cy="252374"/>
          </a:xfrm>
          <a:prstGeom prst="rect">
            <a:avLst/>
          </a:prstGeom>
        </p:spPr>
      </p:pic>
      <p:sp>
        <p:nvSpPr>
          <p:cNvPr id="7" name="Text 4"/>
          <p:cNvSpPr txBox="1"/>
          <p:nvPr/>
        </p:nvSpPr>
        <p:spPr>
          <a:xfrm>
            <a:off x="2423160" y="185623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01</a:t>
            </a:r>
            <a:endParaRPr lang="en-US" sz="1300" dirty="0"/>
          </a:p>
        </p:txBody>
      </p:sp>
      <p:sp>
        <p:nvSpPr>
          <p:cNvPr id="8" name="Text 5"/>
          <p:cNvSpPr txBox="1"/>
          <p:nvPr/>
        </p:nvSpPr>
        <p:spPr>
          <a:xfrm>
            <a:off x="749808" y="2560320"/>
            <a:ext cx="2240280" cy="5943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Hacking</a:t>
            </a:r>
            <a:endParaRPr lang="en-US" sz="1700" dirty="0"/>
          </a:p>
        </p:txBody>
      </p:sp>
      <p:sp>
        <p:nvSpPr>
          <p:cNvPr id="9" name="Shape 6"/>
          <p:cNvSpPr/>
          <p:nvPr/>
        </p:nvSpPr>
        <p:spPr>
          <a:xfrm>
            <a:off x="3429000" y="169164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0" name="Shape 7"/>
          <p:cNvSpPr/>
          <p:nvPr/>
        </p:nvSpPr>
        <p:spPr>
          <a:xfrm>
            <a:off x="3630168" y="1892808"/>
            <a:ext cx="548640" cy="548640"/>
          </a:xfrm>
          <a:prstGeom prst="ellipse">
            <a:avLst/>
          </a:prstGeom>
          <a:solidFill>
            <a:srgbClr val="00E5A0">
              <a:alpha val="18000"/>
            </a:srgbClr>
          </a:solidFill>
          <a:ln w="9525">
            <a:solidFill>
              <a:srgbClr val="00E5A0">
                <a:alpha val="60000"/>
              </a:srgbClr>
            </a:solidFill>
            <a:prstDash val="solid"/>
          </a:ln>
        </p:spPr>
      </p:sp>
      <p:pic>
        <p:nvPicPr>
          <p:cNvPr id="11" name="Image 1" descr="preencoded.png">    </p:cNvPr>
          <p:cNvPicPr>
            <a:picLocks noChangeAspect="1"/>
          </p:cNvPicPr>
          <p:nvPr/>
        </p:nvPicPr>
        <p:blipFill>
          <a:blip r:embed="rId3"/>
          <a:stretch>
            <a:fillRect/>
          </a:stretch>
        </p:blipFill>
        <p:spPr>
          <a:xfrm>
            <a:off x="3778301" y="2040941"/>
            <a:ext cx="252374" cy="252374"/>
          </a:xfrm>
          <a:prstGeom prst="rect">
            <a:avLst/>
          </a:prstGeom>
        </p:spPr>
      </p:pic>
      <p:sp>
        <p:nvSpPr>
          <p:cNvPr id="12" name="Text 8"/>
          <p:cNvSpPr txBox="1"/>
          <p:nvPr/>
        </p:nvSpPr>
        <p:spPr>
          <a:xfrm>
            <a:off x="5303520" y="185623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02</a:t>
            </a:r>
            <a:endParaRPr lang="en-US" sz="1300" dirty="0"/>
          </a:p>
        </p:txBody>
      </p:sp>
      <p:sp>
        <p:nvSpPr>
          <p:cNvPr id="13" name="Text 9"/>
          <p:cNvSpPr txBox="1"/>
          <p:nvPr/>
        </p:nvSpPr>
        <p:spPr>
          <a:xfrm>
            <a:off x="3630168" y="2560320"/>
            <a:ext cx="2240280" cy="5943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Vibe coder</a:t>
            </a:r>
            <a:endParaRPr lang="en-US" sz="1700" dirty="0"/>
          </a:p>
        </p:txBody>
      </p:sp>
      <p:sp>
        <p:nvSpPr>
          <p:cNvPr id="14" name="Shape 10"/>
          <p:cNvSpPr/>
          <p:nvPr/>
        </p:nvSpPr>
        <p:spPr>
          <a:xfrm>
            <a:off x="6309360" y="1691640"/>
            <a:ext cx="2606040" cy="1600200"/>
          </a:xfrm>
          <a:prstGeom prst="roundRect">
            <a:avLst>
              <a:gd name="adj" fmla="val 8000"/>
            </a:avLst>
          </a:prstGeom>
          <a:solidFill>
            <a:srgbClr val="0F2A26"/>
          </a:solidFill>
          <a:ln w="19050">
            <a:solidFill>
              <a:srgbClr val="00E5A0"/>
            </a:solidFill>
            <a:prstDash val="solid"/>
          </a:ln>
          <a:effectLst>
            <a:outerShdw sx="100000" sy="100000" kx="0" ky="0" algn="bl" rotWithShape="0" blurRad="254000" dist="50800" dir="5400000">
              <a:srgbClr val="00E5A0">
                <a:alpha val="35000"/>
              </a:srgbClr>
            </a:outerShdw>
          </a:effectLst>
        </p:spPr>
      </p:sp>
      <p:sp>
        <p:nvSpPr>
          <p:cNvPr id="15" name="Shape 11"/>
          <p:cNvSpPr/>
          <p:nvPr/>
        </p:nvSpPr>
        <p:spPr>
          <a:xfrm>
            <a:off x="6510528" y="1892808"/>
            <a:ext cx="548640" cy="548640"/>
          </a:xfrm>
          <a:prstGeom prst="ellipse">
            <a:avLst/>
          </a:prstGeom>
          <a:solidFill>
            <a:srgbClr val="00E5A0">
              <a:alpha val="18000"/>
            </a:srgbClr>
          </a:solidFill>
          <a:ln w="9525">
            <a:solidFill>
              <a:srgbClr val="00E5A0">
                <a:alpha val="60000"/>
              </a:srgbClr>
            </a:solidFill>
            <a:prstDash val="solid"/>
          </a:ln>
        </p:spPr>
      </p:sp>
      <p:pic>
        <p:nvPicPr>
          <p:cNvPr id="16" name="Image 2" descr="preencoded.png">    </p:cNvPr>
          <p:cNvPicPr>
            <a:picLocks noChangeAspect="1"/>
          </p:cNvPicPr>
          <p:nvPr/>
        </p:nvPicPr>
        <p:blipFill>
          <a:blip r:embed="rId4"/>
          <a:stretch>
            <a:fillRect/>
          </a:stretch>
        </p:blipFill>
        <p:spPr>
          <a:xfrm>
            <a:off x="6658661" y="2040941"/>
            <a:ext cx="252374" cy="252374"/>
          </a:xfrm>
          <a:prstGeom prst="rect">
            <a:avLst/>
          </a:prstGeom>
        </p:spPr>
      </p:pic>
      <p:sp>
        <p:nvSpPr>
          <p:cNvPr id="17" name="Text 12"/>
          <p:cNvSpPr txBox="1"/>
          <p:nvPr/>
        </p:nvSpPr>
        <p:spPr>
          <a:xfrm>
            <a:off x="8183880" y="1856232"/>
            <a:ext cx="548640" cy="320040"/>
          </a:xfrm>
          <a:prstGeom prst="rect">
            <a:avLst/>
          </a:prstGeom>
          <a:noFill/>
          <a:ln/>
        </p:spPr>
        <p:txBody>
          <a:bodyPr wrap="square" lIns="0" tIns="0" rIns="0" bIns="0" rtlCol="0" anchor="ctr"/>
          <a:lstStyle/>
          <a:p>
            <a:pPr algn="r" indent="0" marL="0">
              <a:buNone/>
            </a:pPr>
            <a:r>
              <a:rPr lang="en-US" sz="1300" dirty="0">
                <a:solidFill>
                  <a:srgbClr val="00E5A0"/>
                </a:solidFill>
                <a:latin typeface="Courier New" pitchFamily="34" charset="0"/>
                <a:ea typeface="Courier New" pitchFamily="34" charset="-122"/>
                <a:cs typeface="Courier New" pitchFamily="34" charset="-120"/>
              </a:rPr>
              <a:t>03</a:t>
            </a:r>
            <a:endParaRPr lang="en-US" sz="1300" dirty="0"/>
          </a:p>
        </p:txBody>
      </p:sp>
      <p:sp>
        <p:nvSpPr>
          <p:cNvPr id="18" name="Text 13"/>
          <p:cNvSpPr txBox="1"/>
          <p:nvPr/>
        </p:nvSpPr>
        <p:spPr>
          <a:xfrm>
            <a:off x="6510528" y="2560320"/>
            <a:ext cx="2240280" cy="5943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Offensive Security Consultant</a:t>
            </a:r>
            <a:endParaRPr lang="en-US" sz="1500" dirty="0"/>
          </a:p>
        </p:txBody>
      </p:sp>
      <p:sp>
        <p:nvSpPr>
          <p:cNvPr id="19" name="Shape 14"/>
          <p:cNvSpPr/>
          <p:nvPr/>
        </p:nvSpPr>
        <p:spPr>
          <a:xfrm>
            <a:off x="9189720" y="169164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0" name="Shape 15"/>
          <p:cNvSpPr/>
          <p:nvPr/>
        </p:nvSpPr>
        <p:spPr>
          <a:xfrm>
            <a:off x="9390888" y="1892808"/>
            <a:ext cx="548640" cy="548640"/>
          </a:xfrm>
          <a:prstGeom prst="ellipse">
            <a:avLst/>
          </a:prstGeom>
          <a:solidFill>
            <a:srgbClr val="00E5A0">
              <a:alpha val="18000"/>
            </a:srgbClr>
          </a:solidFill>
          <a:ln w="9525">
            <a:solidFill>
              <a:srgbClr val="00E5A0">
                <a:alpha val="60000"/>
              </a:srgbClr>
            </a:solidFill>
            <a:prstDash val="solid"/>
          </a:ln>
        </p:spPr>
      </p:sp>
      <p:pic>
        <p:nvPicPr>
          <p:cNvPr id="21" name="Image 3" descr="preencoded.png">    </p:cNvPr>
          <p:cNvPicPr>
            <a:picLocks noChangeAspect="1"/>
          </p:cNvPicPr>
          <p:nvPr/>
        </p:nvPicPr>
        <p:blipFill>
          <a:blip r:embed="rId5"/>
          <a:stretch>
            <a:fillRect/>
          </a:stretch>
        </p:blipFill>
        <p:spPr>
          <a:xfrm>
            <a:off x="9539021" y="2040941"/>
            <a:ext cx="252374" cy="252374"/>
          </a:xfrm>
          <a:prstGeom prst="rect">
            <a:avLst/>
          </a:prstGeom>
        </p:spPr>
      </p:pic>
      <p:sp>
        <p:nvSpPr>
          <p:cNvPr id="22" name="Text 16"/>
          <p:cNvSpPr txBox="1"/>
          <p:nvPr/>
        </p:nvSpPr>
        <p:spPr>
          <a:xfrm>
            <a:off x="11064240" y="185623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04</a:t>
            </a:r>
            <a:endParaRPr lang="en-US" sz="1300" dirty="0"/>
          </a:p>
        </p:txBody>
      </p:sp>
      <p:sp>
        <p:nvSpPr>
          <p:cNvPr id="23" name="Text 17"/>
          <p:cNvSpPr txBox="1"/>
          <p:nvPr/>
        </p:nvSpPr>
        <p:spPr>
          <a:xfrm>
            <a:off x="9390888" y="2560320"/>
            <a:ext cx="2240280" cy="5943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Software dev</a:t>
            </a:r>
            <a:endParaRPr lang="en-US" sz="1700" dirty="0"/>
          </a:p>
        </p:txBody>
      </p:sp>
      <p:sp>
        <p:nvSpPr>
          <p:cNvPr id="24" name="Shape 18"/>
          <p:cNvSpPr/>
          <p:nvPr/>
        </p:nvSpPr>
        <p:spPr>
          <a:xfrm>
            <a:off x="548640" y="356616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5" name="Shape 19"/>
          <p:cNvSpPr/>
          <p:nvPr/>
        </p:nvSpPr>
        <p:spPr>
          <a:xfrm>
            <a:off x="749808" y="3767328"/>
            <a:ext cx="548640" cy="548640"/>
          </a:xfrm>
          <a:prstGeom prst="ellipse">
            <a:avLst/>
          </a:prstGeom>
          <a:solidFill>
            <a:srgbClr val="00E5A0">
              <a:alpha val="18000"/>
            </a:srgbClr>
          </a:solidFill>
          <a:ln w="9525">
            <a:solidFill>
              <a:srgbClr val="00E5A0">
                <a:alpha val="60000"/>
              </a:srgbClr>
            </a:solidFill>
            <a:prstDash val="solid"/>
          </a:ln>
        </p:spPr>
      </p:sp>
      <p:pic>
        <p:nvPicPr>
          <p:cNvPr id="26" name="Image 4" descr="preencoded.png">    </p:cNvPr>
          <p:cNvPicPr>
            <a:picLocks noChangeAspect="1"/>
          </p:cNvPicPr>
          <p:nvPr/>
        </p:nvPicPr>
        <p:blipFill>
          <a:blip r:embed="rId6"/>
          <a:stretch>
            <a:fillRect/>
          </a:stretch>
        </p:blipFill>
        <p:spPr>
          <a:xfrm>
            <a:off x="897941" y="3915461"/>
            <a:ext cx="252374" cy="252374"/>
          </a:xfrm>
          <a:prstGeom prst="rect">
            <a:avLst/>
          </a:prstGeom>
        </p:spPr>
      </p:pic>
      <p:sp>
        <p:nvSpPr>
          <p:cNvPr id="27" name="Text 20"/>
          <p:cNvSpPr txBox="1"/>
          <p:nvPr/>
        </p:nvSpPr>
        <p:spPr>
          <a:xfrm>
            <a:off x="2423160" y="373075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05</a:t>
            </a:r>
            <a:endParaRPr lang="en-US" sz="1300" dirty="0"/>
          </a:p>
        </p:txBody>
      </p:sp>
      <p:sp>
        <p:nvSpPr>
          <p:cNvPr id="28" name="Text 21"/>
          <p:cNvSpPr txBox="1"/>
          <p:nvPr/>
        </p:nvSpPr>
        <p:spPr>
          <a:xfrm>
            <a:off x="749808" y="4434840"/>
            <a:ext cx="2240280" cy="5943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Game dev</a:t>
            </a:r>
            <a:endParaRPr lang="en-US" sz="1700" dirty="0"/>
          </a:p>
        </p:txBody>
      </p:sp>
      <p:sp>
        <p:nvSpPr>
          <p:cNvPr id="29" name="Shape 22"/>
          <p:cNvSpPr/>
          <p:nvPr/>
        </p:nvSpPr>
        <p:spPr>
          <a:xfrm>
            <a:off x="3429000" y="356616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30" name="Shape 23"/>
          <p:cNvSpPr/>
          <p:nvPr/>
        </p:nvSpPr>
        <p:spPr>
          <a:xfrm>
            <a:off x="3630168" y="3767328"/>
            <a:ext cx="548640" cy="548640"/>
          </a:xfrm>
          <a:prstGeom prst="ellipse">
            <a:avLst/>
          </a:prstGeom>
          <a:solidFill>
            <a:srgbClr val="00E5A0">
              <a:alpha val="18000"/>
            </a:srgbClr>
          </a:solidFill>
          <a:ln w="9525">
            <a:solidFill>
              <a:srgbClr val="00E5A0">
                <a:alpha val="60000"/>
              </a:srgbClr>
            </a:solidFill>
            <a:prstDash val="solid"/>
          </a:ln>
        </p:spPr>
      </p:sp>
      <p:pic>
        <p:nvPicPr>
          <p:cNvPr id="31" name="Image 5" descr="preencoded.png">    </p:cNvPr>
          <p:cNvPicPr>
            <a:picLocks noChangeAspect="1"/>
          </p:cNvPicPr>
          <p:nvPr/>
        </p:nvPicPr>
        <p:blipFill>
          <a:blip r:embed="rId7"/>
          <a:stretch>
            <a:fillRect/>
          </a:stretch>
        </p:blipFill>
        <p:spPr>
          <a:xfrm>
            <a:off x="3778301" y="3915461"/>
            <a:ext cx="252374" cy="252374"/>
          </a:xfrm>
          <a:prstGeom prst="rect">
            <a:avLst/>
          </a:prstGeom>
        </p:spPr>
      </p:pic>
      <p:sp>
        <p:nvSpPr>
          <p:cNvPr id="32" name="Text 24"/>
          <p:cNvSpPr txBox="1"/>
          <p:nvPr/>
        </p:nvSpPr>
        <p:spPr>
          <a:xfrm>
            <a:off x="5303520" y="373075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06</a:t>
            </a:r>
            <a:endParaRPr lang="en-US" sz="1300" dirty="0"/>
          </a:p>
        </p:txBody>
      </p:sp>
      <p:sp>
        <p:nvSpPr>
          <p:cNvPr id="33" name="Text 25"/>
          <p:cNvSpPr txBox="1"/>
          <p:nvPr/>
        </p:nvSpPr>
        <p:spPr>
          <a:xfrm>
            <a:off x="3630168" y="4434840"/>
            <a:ext cx="2240280" cy="5943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Systems Administrator</a:t>
            </a:r>
            <a:endParaRPr lang="en-US" sz="1500" dirty="0"/>
          </a:p>
        </p:txBody>
      </p:sp>
      <p:sp>
        <p:nvSpPr>
          <p:cNvPr id="34" name="Shape 26"/>
          <p:cNvSpPr/>
          <p:nvPr/>
        </p:nvSpPr>
        <p:spPr>
          <a:xfrm>
            <a:off x="6309360" y="3566160"/>
            <a:ext cx="2606040" cy="1600200"/>
          </a:xfrm>
          <a:prstGeom prst="roundRect">
            <a:avLst>
              <a:gd name="adj" fmla="val 80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35" name="Shape 27"/>
          <p:cNvSpPr/>
          <p:nvPr/>
        </p:nvSpPr>
        <p:spPr>
          <a:xfrm>
            <a:off x="6510528" y="3767328"/>
            <a:ext cx="548640" cy="548640"/>
          </a:xfrm>
          <a:prstGeom prst="ellipse">
            <a:avLst/>
          </a:prstGeom>
          <a:solidFill>
            <a:srgbClr val="00E5A0">
              <a:alpha val="18000"/>
            </a:srgbClr>
          </a:solidFill>
          <a:ln w="9525">
            <a:solidFill>
              <a:srgbClr val="00E5A0">
                <a:alpha val="60000"/>
              </a:srgbClr>
            </a:solidFill>
            <a:prstDash val="solid"/>
          </a:ln>
        </p:spPr>
      </p:sp>
      <p:pic>
        <p:nvPicPr>
          <p:cNvPr id="36" name="Image 6" descr="preencoded.png">    </p:cNvPr>
          <p:cNvPicPr>
            <a:picLocks noChangeAspect="1"/>
          </p:cNvPicPr>
          <p:nvPr/>
        </p:nvPicPr>
        <p:blipFill>
          <a:blip r:embed="rId8"/>
          <a:stretch>
            <a:fillRect/>
          </a:stretch>
        </p:blipFill>
        <p:spPr>
          <a:xfrm>
            <a:off x="6658661" y="3915461"/>
            <a:ext cx="252374" cy="252374"/>
          </a:xfrm>
          <a:prstGeom prst="rect">
            <a:avLst/>
          </a:prstGeom>
        </p:spPr>
      </p:pic>
      <p:sp>
        <p:nvSpPr>
          <p:cNvPr id="37" name="Text 28"/>
          <p:cNvSpPr txBox="1"/>
          <p:nvPr/>
        </p:nvSpPr>
        <p:spPr>
          <a:xfrm>
            <a:off x="8183880" y="3730752"/>
            <a:ext cx="548640" cy="320040"/>
          </a:xfrm>
          <a:prstGeom prst="rect">
            <a:avLst/>
          </a:prstGeom>
          <a:noFill/>
          <a:ln/>
        </p:spPr>
        <p:txBody>
          <a:bodyPr wrap="square" lIns="0" tIns="0" rIns="0" bIns="0" rtlCol="0" anchor="ctr"/>
          <a:lstStyle/>
          <a:p>
            <a:pPr algn="r" indent="0" marL="0">
              <a:buNone/>
            </a:pPr>
            <a:r>
              <a:rPr lang="en-US" sz="1300" dirty="0">
                <a:solidFill>
                  <a:srgbClr val="5B6B85"/>
                </a:solidFill>
                <a:latin typeface="Courier New" pitchFamily="34" charset="0"/>
                <a:ea typeface="Courier New" pitchFamily="34" charset="-122"/>
                <a:cs typeface="Courier New" pitchFamily="34" charset="-120"/>
              </a:rPr>
              <a:t>07</a:t>
            </a:r>
            <a:endParaRPr lang="en-US" sz="1300" dirty="0"/>
          </a:p>
        </p:txBody>
      </p:sp>
      <p:sp>
        <p:nvSpPr>
          <p:cNvPr id="38" name="Text 29"/>
          <p:cNvSpPr txBox="1"/>
          <p:nvPr/>
        </p:nvSpPr>
        <p:spPr>
          <a:xfrm>
            <a:off x="6510528" y="4434840"/>
            <a:ext cx="2240280" cy="5943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App dev</a:t>
            </a:r>
            <a:endParaRPr lang="en-US" sz="1700" dirty="0"/>
          </a:p>
        </p:txBody>
      </p:sp>
      <p:sp>
        <p:nvSpPr>
          <p:cNvPr id="39" name="Shape 30"/>
          <p:cNvSpPr/>
          <p:nvPr/>
        </p:nvSpPr>
        <p:spPr>
          <a:xfrm>
            <a:off x="9189720" y="3566160"/>
            <a:ext cx="2606040" cy="1600200"/>
          </a:xfrm>
          <a:prstGeom prst="roundRect">
            <a:avLst>
              <a:gd name="adj" fmla="val 8000"/>
            </a:avLst>
          </a:prstGeom>
          <a:solidFill>
            <a:srgbClr val="00E5A0">
              <a:alpha val="12000"/>
            </a:srgbClr>
          </a:solidFill>
          <a:ln w="12700">
            <a:solidFill>
              <a:srgbClr val="00E5A0"/>
            </a:solidFill>
            <a:prstDash val="dash"/>
          </a:ln>
        </p:spPr>
      </p:sp>
      <p:pic>
        <p:nvPicPr>
          <p:cNvPr id="40" name="Image 7" descr="preencoded.png">    </p:cNvPr>
          <p:cNvPicPr>
            <a:picLocks noChangeAspect="1"/>
          </p:cNvPicPr>
          <p:nvPr/>
        </p:nvPicPr>
        <p:blipFill>
          <a:blip r:embed="rId9"/>
          <a:stretch>
            <a:fillRect/>
          </a:stretch>
        </p:blipFill>
        <p:spPr>
          <a:xfrm>
            <a:off x="9390888" y="3767328"/>
            <a:ext cx="384048" cy="384048"/>
          </a:xfrm>
          <a:prstGeom prst="rect">
            <a:avLst/>
          </a:prstGeom>
        </p:spPr>
      </p:pic>
      <p:sp>
        <p:nvSpPr>
          <p:cNvPr id="41" name="Text 31"/>
          <p:cNvSpPr txBox="1"/>
          <p:nvPr/>
        </p:nvSpPr>
        <p:spPr>
          <a:xfrm>
            <a:off x="9390888" y="4224528"/>
            <a:ext cx="2203704" cy="868680"/>
          </a:xfrm>
          <a:prstGeom prst="rect">
            <a:avLst/>
          </a:prstGeom>
          <a:noFill/>
          <a:ln/>
        </p:spPr>
        <p:txBody>
          <a:bodyPr wrap="square" lIns="0" tIns="0" rIns="0" bIns="0" rtlCol="0" anchor="t"/>
          <a:lstStyle/>
          <a:p>
            <a:pPr indent="0" marL="0">
              <a:buNone/>
            </a:pPr>
            <a:r>
              <a:rPr lang="en-US" sz="1300" i="1" dirty="0">
                <a:solidFill>
                  <a:srgbClr val="F1F5F9"/>
                </a:solidFill>
                <a:latin typeface="Arial" pitchFamily="34" charset="0"/>
                <a:ea typeface="Arial" pitchFamily="34" charset="-122"/>
                <a:cs typeface="Arial" pitchFamily="34" charset="-120"/>
              </a:rPr>
              <a:t>Choose one of the jobs in your list and find an entry level job posting.</a:t>
            </a:r>
            <a:endParaRPr lang="en-US" sz="1300" dirty="0"/>
          </a:p>
        </p:txBody>
      </p:sp>
      <p:sp>
        <p:nvSpPr>
          <p:cNvPr id="42" name="Text 32"/>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02 / 12</a:t>
            </a:r>
            <a:endParaRPr lang="en-US" sz="1000" dirty="0"/>
          </a:p>
        </p:txBody>
      </p:sp>
      <p:pic>
        <p:nvPicPr>
          <p:cNvPr id="43" name="Image 8" descr="preencoded.png">    </p:cNvPr>
          <p:cNvPicPr>
            <a:picLocks noChangeAspect="1"/>
          </p:cNvPicPr>
          <p:nvPr/>
        </p:nvPicPr>
        <p:blipFill>
          <a:blip r:embed="rId10"/>
          <a:stretch>
            <a:fillRect/>
          </a:stretch>
        </p:blipFill>
        <p:spPr>
          <a:xfrm>
            <a:off x="457200" y="6428232"/>
            <a:ext cx="201168" cy="201168"/>
          </a:xfrm>
          <a:prstGeom prst="rect">
            <a:avLst/>
          </a:prstGeom>
        </p:spPr>
      </p:pic>
      <p:sp>
        <p:nvSpPr>
          <p:cNvPr id="44" name="Shape 33"/>
          <p:cNvSpPr/>
          <p:nvPr/>
        </p:nvSpPr>
        <p:spPr>
          <a:xfrm>
            <a:off x="429768" y="6400800"/>
            <a:ext cx="256032" cy="256032"/>
          </a:xfrm>
          <a:prstGeom prst="ellipse">
            <a:avLst/>
          </a:prstGeom>
          <a:solidFill>
            <a:srgbClr val="00E5A0"/>
          </a:solidFill>
          <a:ln w="12700">
            <a:solidFill>
              <a:srgbClr val="00E5A0"/>
            </a:solidFill>
            <a:prstDash val="solid"/>
          </a:ln>
        </p:spPr>
      </p:sp>
      <p:pic>
        <p:nvPicPr>
          <p:cNvPr id="45" name="Image 9" descr="preencoded.png">    </p:cNvPr>
          <p:cNvPicPr>
            <a:picLocks noChangeAspect="1"/>
          </p:cNvPicPr>
          <p:nvPr/>
        </p:nvPicPr>
        <p:blipFill>
          <a:blip r:embed="rId11"/>
          <a:stretch>
            <a:fillRect/>
          </a:stretch>
        </p:blipFill>
        <p:spPr>
          <a:xfrm>
            <a:off x="484632" y="6455664"/>
            <a:ext cx="146304" cy="146304"/>
          </a:xfrm>
          <a:prstGeom prst="rect">
            <a:avLst/>
          </a:prstGeom>
        </p:spPr>
      </p:pic>
      <p:sp>
        <p:nvSpPr>
          <p:cNvPr id="46" name="Text 34"/>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03  ENTRY LEVEL POSTING</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Job Posting</a:t>
            </a:r>
            <a:endParaRPr lang="en-US" sz="3200" dirty="0"/>
          </a:p>
        </p:txBody>
      </p:sp>
      <p:sp>
        <p:nvSpPr>
          <p:cNvPr id="4" name="Shape 2"/>
          <p:cNvSpPr/>
          <p:nvPr/>
        </p:nvSpPr>
        <p:spPr>
          <a:xfrm>
            <a:off x="548640" y="1645920"/>
            <a:ext cx="5577840" cy="4480560"/>
          </a:xfrm>
          <a:prstGeom prst="roundRect">
            <a:avLst>
              <a:gd name="adj" fmla="val 2857"/>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868680" y="1965960"/>
            <a:ext cx="822960" cy="822960"/>
          </a:xfrm>
          <a:prstGeom prst="ellipse">
            <a:avLst/>
          </a:prstGeom>
          <a:solidFill>
            <a:srgbClr val="38BDF8">
              <a:alpha val="18000"/>
            </a:srgbClr>
          </a:solidFill>
          <a:ln w="9525">
            <a:solidFill>
              <a:srgbClr val="38BDF8">
                <a:alpha val="60000"/>
              </a:srgbClr>
            </a:solidFill>
            <a:prstDash val="solid"/>
          </a:ln>
        </p:spPr>
      </p:sp>
      <p:pic>
        <p:nvPicPr>
          <p:cNvPr id="6" name="Image 0" descr="preencoded.png">    </p:cNvPr>
          <p:cNvPicPr>
            <a:picLocks noChangeAspect="1"/>
          </p:cNvPicPr>
          <p:nvPr/>
        </p:nvPicPr>
        <p:blipFill>
          <a:blip r:embed="rId2"/>
          <a:stretch>
            <a:fillRect/>
          </a:stretch>
        </p:blipFill>
        <p:spPr>
          <a:xfrm>
            <a:off x="1090879" y="2188159"/>
            <a:ext cx="378562" cy="378562"/>
          </a:xfrm>
          <a:prstGeom prst="rect">
            <a:avLst/>
          </a:prstGeom>
        </p:spPr>
      </p:pic>
      <p:sp>
        <p:nvSpPr>
          <p:cNvPr id="7" name="Text 4"/>
          <p:cNvSpPr txBox="1"/>
          <p:nvPr/>
        </p:nvSpPr>
        <p:spPr>
          <a:xfrm>
            <a:off x="1874520" y="2011680"/>
            <a:ext cx="4114800" cy="27432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1.  Job Title:</a:t>
            </a:r>
            <a:endParaRPr lang="en-US" sz="1050" dirty="0"/>
          </a:p>
        </p:txBody>
      </p:sp>
      <p:sp>
        <p:nvSpPr>
          <p:cNvPr id="8" name="Text 5"/>
          <p:cNvSpPr txBox="1"/>
          <p:nvPr/>
        </p:nvSpPr>
        <p:spPr>
          <a:xfrm>
            <a:off x="1874520" y="2267712"/>
            <a:ext cx="4114800" cy="82296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Offensive Security Consultant</a:t>
            </a:r>
            <a:endParaRPr lang="en-US" sz="2400" dirty="0"/>
          </a:p>
        </p:txBody>
      </p:sp>
      <p:sp>
        <p:nvSpPr>
          <p:cNvPr id="9" name="Shape 6"/>
          <p:cNvSpPr/>
          <p:nvPr/>
        </p:nvSpPr>
        <p:spPr>
          <a:xfrm>
            <a:off x="868680" y="3246120"/>
            <a:ext cx="4937760" cy="0"/>
          </a:xfrm>
          <a:prstGeom prst="line">
            <a:avLst/>
          </a:prstGeom>
          <a:noFill/>
          <a:ln w="9525">
            <a:solidFill>
              <a:srgbClr val="23304A"/>
            </a:solidFill>
            <a:prstDash val="solid"/>
          </a:ln>
        </p:spPr>
      </p:sp>
      <p:sp>
        <p:nvSpPr>
          <p:cNvPr id="10" name="Shape 7"/>
          <p:cNvSpPr/>
          <p:nvPr/>
        </p:nvSpPr>
        <p:spPr>
          <a:xfrm>
            <a:off x="868680" y="3520440"/>
            <a:ext cx="548640" cy="548640"/>
          </a:xfrm>
          <a:prstGeom prst="ellipse">
            <a:avLst/>
          </a:prstGeom>
          <a:solidFill>
            <a:srgbClr val="38BDF8">
              <a:alpha val="18000"/>
            </a:srgbClr>
          </a:solidFill>
          <a:ln w="9525">
            <a:solidFill>
              <a:srgbClr val="38BDF8">
                <a:alpha val="60000"/>
              </a:srgbClr>
            </a:solidFill>
            <a:prstDash val="solid"/>
          </a:ln>
        </p:spPr>
      </p:sp>
      <p:pic>
        <p:nvPicPr>
          <p:cNvPr id="11" name="Image 1" descr="preencoded.png">    </p:cNvPr>
          <p:cNvPicPr>
            <a:picLocks noChangeAspect="1"/>
          </p:cNvPicPr>
          <p:nvPr/>
        </p:nvPicPr>
        <p:blipFill>
          <a:blip r:embed="rId3"/>
          <a:stretch>
            <a:fillRect/>
          </a:stretch>
        </p:blipFill>
        <p:spPr>
          <a:xfrm>
            <a:off x="1016813" y="3668573"/>
            <a:ext cx="252374" cy="252374"/>
          </a:xfrm>
          <a:prstGeom prst="rect">
            <a:avLst/>
          </a:prstGeom>
        </p:spPr>
      </p:pic>
      <p:sp>
        <p:nvSpPr>
          <p:cNvPr id="12" name="Text 8"/>
          <p:cNvSpPr txBox="1"/>
          <p:nvPr/>
        </p:nvSpPr>
        <p:spPr>
          <a:xfrm>
            <a:off x="1600200" y="3520440"/>
            <a:ext cx="4389120" cy="82296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2.  Job Location:</a:t>
            </a:r>
            <a:endParaRPr lang="en-US" sz="1050" dirty="0"/>
          </a:p>
          <a:p>
            <a:pPr indent="0" marL="0">
              <a:spcAft>
                <a:spcPts val="400"/>
              </a:spcAft>
              <a:buNone/>
            </a:pPr>
            <a:r>
              <a:rPr lang="en-US" sz="1700" b="1" dirty="0">
                <a:solidFill>
                  <a:srgbClr val="F1F5F9"/>
                </a:solidFill>
                <a:latin typeface="Arial" pitchFamily="34" charset="0"/>
                <a:ea typeface="Arial" pitchFamily="34" charset="-122"/>
                <a:cs typeface="Arial" pitchFamily="34" charset="-120"/>
              </a:rPr>
              <a:t>Toronto, Mississauga, ON</a:t>
            </a:r>
            <a:endParaRPr lang="en-US" sz="1050" dirty="0"/>
          </a:p>
        </p:txBody>
      </p:sp>
      <p:sp>
        <p:nvSpPr>
          <p:cNvPr id="13" name="Shape 9"/>
          <p:cNvSpPr/>
          <p:nvPr/>
        </p:nvSpPr>
        <p:spPr>
          <a:xfrm>
            <a:off x="868680" y="4526280"/>
            <a:ext cx="548640" cy="548640"/>
          </a:xfrm>
          <a:prstGeom prst="ellipse">
            <a:avLst/>
          </a:prstGeom>
          <a:solidFill>
            <a:srgbClr val="38BDF8">
              <a:alpha val="18000"/>
            </a:srgbClr>
          </a:solidFill>
          <a:ln w="9525">
            <a:solidFill>
              <a:srgbClr val="38BDF8">
                <a:alpha val="60000"/>
              </a:srgbClr>
            </a:solidFill>
            <a:prstDash val="solid"/>
          </a:ln>
        </p:spPr>
      </p:sp>
      <p:pic>
        <p:nvPicPr>
          <p:cNvPr id="14" name="Image 2" descr="preencoded.png">    </p:cNvPr>
          <p:cNvPicPr>
            <a:picLocks noChangeAspect="1"/>
          </p:cNvPicPr>
          <p:nvPr/>
        </p:nvPicPr>
        <p:blipFill>
          <a:blip r:embed="rId4"/>
          <a:stretch>
            <a:fillRect/>
          </a:stretch>
        </p:blipFill>
        <p:spPr>
          <a:xfrm>
            <a:off x="1016813" y="4674413"/>
            <a:ext cx="252374" cy="252374"/>
          </a:xfrm>
          <a:prstGeom prst="rect">
            <a:avLst/>
          </a:prstGeom>
        </p:spPr>
      </p:pic>
      <p:sp>
        <p:nvSpPr>
          <p:cNvPr id="15" name="Text 10"/>
          <p:cNvSpPr txBox="1"/>
          <p:nvPr/>
        </p:nvSpPr>
        <p:spPr>
          <a:xfrm>
            <a:off x="1600200" y="4526280"/>
            <a:ext cx="4389120" cy="118872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3.  Job Posting Link:</a:t>
            </a:r>
            <a:endParaRPr lang="en-US" sz="1050" dirty="0"/>
          </a:p>
          <a:p>
            <a:pPr indent="0" marL="0">
              <a:spcAft>
                <a:spcPts val="400"/>
              </a:spcAft>
              <a:buNone/>
            </a:pPr>
            <a:r>
              <a:rPr lang="en-US" sz="1100" u="sng" dirty="0">
                <a:solidFill>
                  <a:srgbClr val="38BDF8"/>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https://www.workopolis.com/search?q=penetration+testing&amp;l=toronto%2C+on</a:t>
            </a:r>
            <a:endParaRPr lang="en-US" sz="1050" dirty="0"/>
          </a:p>
        </p:txBody>
      </p:sp>
      <p:sp>
        <p:nvSpPr>
          <p:cNvPr id="16" name="Shape 11"/>
          <p:cNvSpPr/>
          <p:nvPr/>
        </p:nvSpPr>
        <p:spPr>
          <a:xfrm>
            <a:off x="6400800" y="1645920"/>
            <a:ext cx="5257800" cy="4480560"/>
          </a:xfrm>
          <a:prstGeom prst="roundRect">
            <a:avLst>
              <a:gd name="adj" fmla="val 2857"/>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7" name="Shape 12"/>
          <p:cNvSpPr/>
          <p:nvPr/>
        </p:nvSpPr>
        <p:spPr>
          <a:xfrm>
            <a:off x="6720840" y="1965960"/>
            <a:ext cx="822960" cy="822960"/>
          </a:xfrm>
          <a:prstGeom prst="ellipse">
            <a:avLst/>
          </a:prstGeom>
          <a:solidFill>
            <a:srgbClr val="38BDF8">
              <a:alpha val="18000"/>
            </a:srgbClr>
          </a:solidFill>
          <a:ln w="9525">
            <a:solidFill>
              <a:srgbClr val="38BDF8">
                <a:alpha val="60000"/>
              </a:srgbClr>
            </a:solidFill>
            <a:prstDash val="solid"/>
          </a:ln>
        </p:spPr>
      </p:sp>
      <p:pic>
        <p:nvPicPr>
          <p:cNvPr id="18" name="Image 3" descr="preencoded.png">    </p:cNvPr>
          <p:cNvPicPr>
            <a:picLocks noChangeAspect="1"/>
          </p:cNvPicPr>
          <p:nvPr/>
        </p:nvPicPr>
        <p:blipFill>
          <a:blip r:embed="rId6"/>
          <a:stretch>
            <a:fillRect/>
          </a:stretch>
        </p:blipFill>
        <p:spPr>
          <a:xfrm>
            <a:off x="6943039" y="2188159"/>
            <a:ext cx="378562" cy="378562"/>
          </a:xfrm>
          <a:prstGeom prst="rect">
            <a:avLst/>
          </a:prstGeom>
        </p:spPr>
      </p:pic>
      <p:sp>
        <p:nvSpPr>
          <p:cNvPr id="19" name="Text 13"/>
          <p:cNvSpPr txBox="1"/>
          <p:nvPr/>
        </p:nvSpPr>
        <p:spPr>
          <a:xfrm>
            <a:off x="7726680" y="2057400"/>
            <a:ext cx="3749040" cy="731520"/>
          </a:xfrm>
          <a:prstGeom prst="rect">
            <a:avLst/>
          </a:prstGeom>
          <a:noFill/>
          <a:ln/>
        </p:spPr>
        <p:txBody>
          <a:bodyPr wrap="square" lIns="0" tIns="0" rIns="0" bIns="0" rtlCol="0" anchor="t"/>
          <a:lstStyle/>
          <a:p>
            <a:pPr indent="0" marL="0">
              <a:spcAft>
                <a:spcPts val="400"/>
              </a:spcAft>
              <a:buNone/>
            </a:pPr>
            <a:r>
              <a:rPr lang="en-US" sz="1000" spc="100" kern="0" dirty="0">
                <a:solidFill>
                  <a:srgbClr val="38BDF8"/>
                </a:solidFill>
                <a:latin typeface="Courier New" pitchFamily="34" charset="0"/>
                <a:ea typeface="Courier New" pitchFamily="34" charset="-122"/>
                <a:cs typeface="Courier New" pitchFamily="34" charset="-120"/>
              </a:rPr>
              <a:t>4.  Brief description of primary duties (1 or 2 sentences):</a:t>
            </a:r>
            <a:endParaRPr lang="en-US" sz="1000" dirty="0"/>
          </a:p>
        </p:txBody>
      </p:sp>
      <p:sp>
        <p:nvSpPr>
          <p:cNvPr id="20" name="Text 14"/>
          <p:cNvSpPr txBox="1"/>
          <p:nvPr/>
        </p:nvSpPr>
        <p:spPr>
          <a:xfrm>
            <a:off x="6675120" y="2926080"/>
            <a:ext cx="914400" cy="914400"/>
          </a:xfrm>
          <a:prstGeom prst="rect">
            <a:avLst/>
          </a:prstGeom>
          <a:noFill/>
          <a:ln/>
        </p:spPr>
        <p:txBody>
          <a:bodyPr wrap="square" lIns="0" tIns="0" rIns="0" bIns="0" rtlCol="0" anchor="ctr"/>
          <a:lstStyle/>
          <a:p>
            <a:pPr indent="0" marL="0">
              <a:buNone/>
            </a:pPr>
            <a:r>
              <a:rPr lang="en-US" sz="9600" dirty="0">
                <a:solidFill>
                  <a:srgbClr val="00E5A0">
                    <a:alpha val="60000"/>
                  </a:srgbClr>
                </a:solidFill>
                <a:latin typeface="Cambria" pitchFamily="34" charset="0"/>
                <a:ea typeface="Cambria" pitchFamily="34" charset="-122"/>
                <a:cs typeface="Cambria" pitchFamily="34" charset="-120"/>
              </a:rPr>
              <a:t>“</a:t>
            </a:r>
            <a:endParaRPr lang="en-US" sz="9600" dirty="0"/>
          </a:p>
        </p:txBody>
      </p:sp>
      <p:sp>
        <p:nvSpPr>
          <p:cNvPr id="21" name="Text 15"/>
          <p:cNvSpPr txBox="1"/>
          <p:nvPr/>
        </p:nvSpPr>
        <p:spPr>
          <a:xfrm>
            <a:off x="6812280" y="3611880"/>
            <a:ext cx="4480560" cy="2011680"/>
          </a:xfrm>
          <a:prstGeom prst="rect">
            <a:avLst/>
          </a:prstGeom>
          <a:noFill/>
          <a:ln/>
        </p:spPr>
        <p:txBody>
          <a:bodyPr wrap="square" lIns="0" tIns="0" rIns="0" bIns="0" rtlCol="0" anchor="t"/>
          <a:lstStyle/>
          <a:p>
            <a:pPr indent="0" marL="0">
              <a:lnSpc>
                <a:spcPct val="115000"/>
              </a:lnSpc>
              <a:buNone/>
            </a:pPr>
            <a:r>
              <a:rPr lang="en-US" sz="2100" dirty="0">
                <a:solidFill>
                  <a:srgbClr val="F1F5F9"/>
                </a:solidFill>
                <a:latin typeface="Arial" pitchFamily="34" charset="0"/>
                <a:ea typeface="Arial" pitchFamily="34" charset="-122"/>
                <a:cs typeface="Arial" pitchFamily="34" charset="-120"/>
              </a:rPr>
              <a:t>Identifying vulnerabilities and security issues that put CGI at risk of a data breach.</a:t>
            </a:r>
            <a:endParaRPr lang="en-US" sz="2100" dirty="0"/>
          </a:p>
        </p:txBody>
      </p:sp>
      <p:sp>
        <p:nvSpPr>
          <p:cNvPr id="23" name="Text 16"/>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03 / 12</a:t>
            </a:r>
            <a:endParaRPr lang="en-US" sz="1000" dirty="0"/>
          </a:p>
        </p:txBody>
      </p:sp>
      <p:pic>
        <p:nvPicPr>
          <p:cNvPr id="24" name="Image 4" descr="preencoded.png">    </p:cNvPr>
          <p:cNvPicPr>
            <a:picLocks noChangeAspect="1"/>
          </p:cNvPicPr>
          <p:nvPr/>
        </p:nvPicPr>
        <p:blipFill>
          <a:blip r:embed="rId7"/>
          <a:stretch>
            <a:fillRect/>
          </a:stretch>
        </p:blipFill>
        <p:spPr>
          <a:xfrm>
            <a:off x="457200" y="6428232"/>
            <a:ext cx="201168" cy="201168"/>
          </a:xfrm>
          <a:prstGeom prst="rect">
            <a:avLst/>
          </a:prstGeom>
        </p:spPr>
      </p:pic>
      <p:sp>
        <p:nvSpPr>
          <p:cNvPr id="25" name="Shape 17"/>
          <p:cNvSpPr/>
          <p:nvPr/>
        </p:nvSpPr>
        <p:spPr>
          <a:xfrm>
            <a:off x="429768" y="6400800"/>
            <a:ext cx="256032" cy="256032"/>
          </a:xfrm>
          <a:prstGeom prst="ellipse">
            <a:avLst/>
          </a:prstGeom>
          <a:solidFill>
            <a:srgbClr val="00E5A0"/>
          </a:solidFill>
          <a:ln w="12700">
            <a:solidFill>
              <a:srgbClr val="00E5A0"/>
            </a:solidFill>
            <a:prstDash val="solid"/>
          </a:ln>
        </p:spPr>
      </p:sp>
      <p:pic>
        <p:nvPicPr>
          <p:cNvPr id="26" name="Image 5" descr="preencoded.png">    </p:cNvPr>
          <p:cNvPicPr>
            <a:picLocks noChangeAspect="1"/>
          </p:cNvPicPr>
          <p:nvPr/>
        </p:nvPicPr>
        <p:blipFill>
          <a:blip r:embed="rId8"/>
          <a:stretch>
            <a:fillRect/>
          </a:stretch>
        </p:blipFill>
        <p:spPr>
          <a:xfrm>
            <a:off x="484632" y="6455664"/>
            <a:ext cx="146304" cy="146304"/>
          </a:xfrm>
          <a:prstGeom prst="rect">
            <a:avLst/>
          </a:prstGeom>
        </p:spPr>
      </p:pic>
      <p:sp>
        <p:nvSpPr>
          <p:cNvPr id="27" name="Text 18"/>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04  JOB POSTING · REQUIREMENTS</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Job Posting</a:t>
            </a:r>
            <a:endParaRPr lang="en-US" sz="3200" dirty="0"/>
          </a:p>
        </p:txBody>
      </p:sp>
      <p:sp>
        <p:nvSpPr>
          <p:cNvPr id="4" name="Shape 2"/>
          <p:cNvSpPr/>
          <p:nvPr/>
        </p:nvSpPr>
        <p:spPr>
          <a:xfrm>
            <a:off x="548640" y="1554480"/>
            <a:ext cx="5440680" cy="2286000"/>
          </a:xfrm>
          <a:prstGeom prst="roundRect">
            <a:avLst>
              <a:gd name="adj" fmla="val 56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749808" y="1755648"/>
            <a:ext cx="502920" cy="502920"/>
          </a:xfrm>
          <a:prstGeom prst="ellipse">
            <a:avLst/>
          </a:prstGeom>
          <a:solidFill>
            <a:srgbClr val="00E5A0">
              <a:alpha val="18000"/>
            </a:srgbClr>
          </a:solidFill>
          <a:ln w="9525">
            <a:solidFill>
              <a:srgbClr val="00E5A0">
                <a:alpha val="60000"/>
              </a:srgbClr>
            </a:solidFill>
            <a:prstDash val="solid"/>
          </a:ln>
        </p:spPr>
      </p:sp>
      <p:pic>
        <p:nvPicPr>
          <p:cNvPr id="6" name="Image 0" descr="preencoded.png">    </p:cNvPr>
          <p:cNvPicPr>
            <a:picLocks noChangeAspect="1"/>
          </p:cNvPicPr>
          <p:nvPr/>
        </p:nvPicPr>
        <p:blipFill>
          <a:blip r:embed="rId2"/>
          <a:stretch>
            <a:fillRect/>
          </a:stretch>
        </p:blipFill>
        <p:spPr>
          <a:xfrm>
            <a:off x="885596" y="1891436"/>
            <a:ext cx="231343" cy="231343"/>
          </a:xfrm>
          <a:prstGeom prst="rect">
            <a:avLst/>
          </a:prstGeom>
        </p:spPr>
      </p:pic>
      <p:sp>
        <p:nvSpPr>
          <p:cNvPr id="7" name="Text 4"/>
          <p:cNvSpPr txBox="1"/>
          <p:nvPr/>
        </p:nvSpPr>
        <p:spPr>
          <a:xfrm>
            <a:off x="1371600" y="1755648"/>
            <a:ext cx="4434840" cy="5029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1. Degree/Diploma Required:</a:t>
            </a:r>
            <a:endParaRPr lang="en-US" sz="1050" dirty="0"/>
          </a:p>
        </p:txBody>
      </p:sp>
      <p:sp>
        <p:nvSpPr>
          <p:cNvPr id="8" name="Text 5"/>
          <p:cNvSpPr txBox="1"/>
          <p:nvPr/>
        </p:nvSpPr>
        <p:spPr>
          <a:xfrm>
            <a:off x="749808" y="2359152"/>
            <a:ext cx="5038344" cy="1371600"/>
          </a:xfrm>
          <a:prstGeom prst="rect">
            <a:avLst/>
          </a:prstGeom>
          <a:noFill/>
          <a:ln/>
        </p:spPr>
        <p:txBody>
          <a:bodyPr wrap="square" lIns="0" tIns="0" rIns="0" bIns="0" rtlCol="0" anchor="t"/>
          <a:lstStyle/>
          <a:p>
            <a:pPr indent="0" marL="0">
              <a:spcAft>
                <a:spcPts val="300"/>
              </a:spcAft>
              <a:buNone/>
            </a:pPr>
            <a:r>
              <a:rPr lang="en-US" sz="1250" dirty="0">
                <a:solidFill>
                  <a:srgbClr val="F1F5F9"/>
                </a:solidFill>
                <a:latin typeface="Arial" pitchFamily="34" charset="0"/>
                <a:ea typeface="Arial" pitchFamily="34" charset="-122"/>
                <a:cs typeface="Arial" pitchFamily="34" charset="-120"/>
              </a:rPr>
              <a:t>A Bachelor’s degree in Computer Science, Cybersecurity, or IT. Equivalent tech diplomas combined with recognized cybersecurity bootcamps and certifications are also accepted.</a:t>
            </a:r>
            <a:endParaRPr lang="en-US" sz="1250" dirty="0"/>
          </a:p>
          <a:p>
            <a:pPr indent="0" marL="0">
              <a:spcAft>
                <a:spcPts val="300"/>
              </a:spcAft>
              <a:buNone/>
            </a:pPr>
            <a:r>
              <a:rPr lang="en-US" sz="950" u="sng" dirty="0">
                <a:solidFill>
                  <a:srgbClr val="00E5A0"/>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Cyber Degrees</a:t>
            </a:r>
            <a:endParaRPr lang="en-US" sz="1250" dirty="0"/>
          </a:p>
        </p:txBody>
      </p:sp>
      <p:sp>
        <p:nvSpPr>
          <p:cNvPr id="9" name="Shape 6"/>
          <p:cNvSpPr/>
          <p:nvPr/>
        </p:nvSpPr>
        <p:spPr>
          <a:xfrm>
            <a:off x="6263640" y="1554480"/>
            <a:ext cx="5440680" cy="2286000"/>
          </a:xfrm>
          <a:prstGeom prst="roundRect">
            <a:avLst>
              <a:gd name="adj" fmla="val 56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0" name="Shape 7"/>
          <p:cNvSpPr/>
          <p:nvPr/>
        </p:nvSpPr>
        <p:spPr>
          <a:xfrm>
            <a:off x="6464808" y="1755648"/>
            <a:ext cx="502920" cy="502920"/>
          </a:xfrm>
          <a:prstGeom prst="ellipse">
            <a:avLst/>
          </a:prstGeom>
          <a:solidFill>
            <a:srgbClr val="00E5A0">
              <a:alpha val="18000"/>
            </a:srgbClr>
          </a:solidFill>
          <a:ln w="9525">
            <a:solidFill>
              <a:srgbClr val="00E5A0">
                <a:alpha val="60000"/>
              </a:srgbClr>
            </a:solidFill>
            <a:prstDash val="solid"/>
          </a:ln>
        </p:spPr>
      </p:sp>
      <p:pic>
        <p:nvPicPr>
          <p:cNvPr id="11" name="Image 1" descr="preencoded.png">    </p:cNvPr>
          <p:cNvPicPr>
            <a:picLocks noChangeAspect="1"/>
          </p:cNvPicPr>
          <p:nvPr/>
        </p:nvPicPr>
        <p:blipFill>
          <a:blip r:embed="rId4"/>
          <a:stretch>
            <a:fillRect/>
          </a:stretch>
        </p:blipFill>
        <p:spPr>
          <a:xfrm>
            <a:off x="6600596" y="1891436"/>
            <a:ext cx="231343" cy="231343"/>
          </a:xfrm>
          <a:prstGeom prst="rect">
            <a:avLst/>
          </a:prstGeom>
        </p:spPr>
      </p:pic>
      <p:sp>
        <p:nvSpPr>
          <p:cNvPr id="12" name="Text 8"/>
          <p:cNvSpPr txBox="1"/>
          <p:nvPr/>
        </p:nvSpPr>
        <p:spPr>
          <a:xfrm>
            <a:off x="7086600" y="1755648"/>
            <a:ext cx="4434840" cy="5029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2. Programming Languages Required/Recommended:</a:t>
            </a:r>
            <a:endParaRPr lang="en-US" sz="1050" dirty="0"/>
          </a:p>
        </p:txBody>
      </p:sp>
      <p:sp>
        <p:nvSpPr>
          <p:cNvPr id="13" name="Text 9"/>
          <p:cNvSpPr txBox="1"/>
          <p:nvPr/>
        </p:nvSpPr>
        <p:spPr>
          <a:xfrm>
            <a:off x="6464808" y="2359152"/>
            <a:ext cx="5038344"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Python (for automation)</a:t>
            </a:r>
            <a:endParaRPr lang="en-US" sz="1200" dirty="0"/>
          </a:p>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Bash &amp; PowerShell (for system scripting)</a:t>
            </a:r>
            <a:endParaRPr lang="en-US" sz="1200" dirty="0"/>
          </a:p>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Java &amp; Go (for web application testing)</a:t>
            </a:r>
            <a:endParaRPr lang="en-US" sz="1200" dirty="0"/>
          </a:p>
          <a:p>
            <a:pPr indent="0" marL="0">
              <a:spcAft>
                <a:spcPts val="300"/>
              </a:spcAft>
              <a:buNone/>
            </a:pPr>
            <a:r>
              <a:rPr lang="en-US" sz="950" u="sng" dirty="0">
                <a:solidFill>
                  <a:srgbClr val="00E5A0"/>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Reddit Computer Science Careers</a:t>
            </a:r>
            <a:endParaRPr lang="en-US" sz="1200" dirty="0"/>
          </a:p>
        </p:txBody>
      </p:sp>
      <p:sp>
        <p:nvSpPr>
          <p:cNvPr id="14" name="Shape 10"/>
          <p:cNvSpPr/>
          <p:nvPr/>
        </p:nvSpPr>
        <p:spPr>
          <a:xfrm>
            <a:off x="548640" y="4041648"/>
            <a:ext cx="5440680" cy="2286000"/>
          </a:xfrm>
          <a:prstGeom prst="roundRect">
            <a:avLst>
              <a:gd name="adj" fmla="val 56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5" name="Shape 11"/>
          <p:cNvSpPr/>
          <p:nvPr/>
        </p:nvSpPr>
        <p:spPr>
          <a:xfrm>
            <a:off x="749808" y="4242816"/>
            <a:ext cx="502920" cy="502920"/>
          </a:xfrm>
          <a:prstGeom prst="ellipse">
            <a:avLst/>
          </a:prstGeom>
          <a:solidFill>
            <a:srgbClr val="00E5A0">
              <a:alpha val="18000"/>
            </a:srgbClr>
          </a:solidFill>
          <a:ln w="9525">
            <a:solidFill>
              <a:srgbClr val="00E5A0">
                <a:alpha val="60000"/>
              </a:srgbClr>
            </a:solidFill>
            <a:prstDash val="solid"/>
          </a:ln>
        </p:spPr>
      </p:sp>
      <p:pic>
        <p:nvPicPr>
          <p:cNvPr id="16" name="Image 2" descr="preencoded.png">    </p:cNvPr>
          <p:cNvPicPr>
            <a:picLocks noChangeAspect="1"/>
          </p:cNvPicPr>
          <p:nvPr/>
        </p:nvPicPr>
        <p:blipFill>
          <a:blip r:embed="rId6"/>
          <a:stretch>
            <a:fillRect/>
          </a:stretch>
        </p:blipFill>
        <p:spPr>
          <a:xfrm>
            <a:off x="885596" y="4378604"/>
            <a:ext cx="231343" cy="231343"/>
          </a:xfrm>
          <a:prstGeom prst="rect">
            <a:avLst/>
          </a:prstGeom>
        </p:spPr>
      </p:pic>
      <p:sp>
        <p:nvSpPr>
          <p:cNvPr id="17" name="Text 12"/>
          <p:cNvSpPr txBox="1"/>
          <p:nvPr/>
        </p:nvSpPr>
        <p:spPr>
          <a:xfrm>
            <a:off x="1371600" y="4242816"/>
            <a:ext cx="4434840" cy="5029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3. Required Skills:</a:t>
            </a:r>
            <a:endParaRPr lang="en-US" sz="1050" dirty="0"/>
          </a:p>
        </p:txBody>
      </p:sp>
      <p:sp>
        <p:nvSpPr>
          <p:cNvPr id="18" name="Text 13"/>
          <p:cNvSpPr txBox="1"/>
          <p:nvPr/>
        </p:nvSpPr>
        <p:spPr>
          <a:xfrm>
            <a:off x="749808" y="4846320"/>
            <a:ext cx="5038344"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Vulnerability Assessment (using tools like Nmap, Burp Suite, and Metasploit)</a:t>
            </a:r>
            <a:endParaRPr lang="en-US" sz="1200" dirty="0"/>
          </a:p>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Operating Systems Infrastructure (advanced Linux and Windows breach mechanics)</a:t>
            </a:r>
            <a:endParaRPr lang="en-US" sz="1200" dirty="0"/>
          </a:p>
          <a:p>
            <a:pPr marL="342900" indent="-342900">
              <a:spcAft>
                <a:spcPts val="300"/>
              </a:spcAft>
              <a:buSzPct val="100000"/>
              <a:buChar char="•"/>
            </a:pPr>
            <a:r>
              <a:rPr lang="en-US" sz="1200" dirty="0">
                <a:solidFill>
                  <a:srgbClr val="F1F5F9"/>
                </a:solidFill>
                <a:latin typeface="Arial" pitchFamily="34" charset="0"/>
                <a:ea typeface="Arial" pitchFamily="34" charset="-122"/>
                <a:cs typeface="Arial" pitchFamily="34" charset="-120"/>
              </a:rPr>
              <a:t>Technical Report Writing (documenting exploit findings for stakeholders)</a:t>
            </a:r>
            <a:endParaRPr lang="en-US" sz="1200" dirty="0"/>
          </a:p>
          <a:p>
            <a:pPr indent="0" marL="0">
              <a:spcAft>
                <a:spcPts val="300"/>
              </a:spcAft>
              <a:buNone/>
            </a:pPr>
            <a:r>
              <a:rPr lang="en-US" sz="950" dirty="0">
                <a:solidFill>
                  <a:srgbClr val="00E5A0"/>
                </a:solidFill>
                <a:latin typeface="Courier New" pitchFamily="34" charset="0"/>
                <a:ea typeface="Courier New" pitchFamily="34" charset="-122"/>
                <a:cs typeface="Courier New" pitchFamily="34" charset="-120"/>
              </a:rPr>
              <a:t>Source: Cyber Degrees Hard Skills Guide</a:t>
            </a:r>
            <a:endParaRPr lang="en-US" sz="1200" dirty="0"/>
          </a:p>
        </p:txBody>
      </p:sp>
      <p:sp>
        <p:nvSpPr>
          <p:cNvPr id="19" name="Shape 14"/>
          <p:cNvSpPr/>
          <p:nvPr/>
        </p:nvSpPr>
        <p:spPr>
          <a:xfrm>
            <a:off x="6263640" y="4041648"/>
            <a:ext cx="5440680" cy="2286000"/>
          </a:xfrm>
          <a:prstGeom prst="roundRect">
            <a:avLst>
              <a:gd name="adj" fmla="val 5600"/>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0" name="Shape 15"/>
          <p:cNvSpPr/>
          <p:nvPr/>
        </p:nvSpPr>
        <p:spPr>
          <a:xfrm>
            <a:off x="6464808" y="4242816"/>
            <a:ext cx="502920" cy="502920"/>
          </a:xfrm>
          <a:prstGeom prst="ellipse">
            <a:avLst/>
          </a:prstGeom>
          <a:solidFill>
            <a:srgbClr val="00E5A0">
              <a:alpha val="18000"/>
            </a:srgbClr>
          </a:solidFill>
          <a:ln w="9525">
            <a:solidFill>
              <a:srgbClr val="00E5A0">
                <a:alpha val="60000"/>
              </a:srgbClr>
            </a:solidFill>
            <a:prstDash val="solid"/>
          </a:ln>
        </p:spPr>
      </p:sp>
      <p:pic>
        <p:nvPicPr>
          <p:cNvPr id="21" name="Image 3" descr="preencoded.png">    </p:cNvPr>
          <p:cNvPicPr>
            <a:picLocks noChangeAspect="1"/>
          </p:cNvPicPr>
          <p:nvPr/>
        </p:nvPicPr>
        <p:blipFill>
          <a:blip r:embed="rId7"/>
          <a:stretch>
            <a:fillRect/>
          </a:stretch>
        </p:blipFill>
        <p:spPr>
          <a:xfrm>
            <a:off x="6600596" y="4378604"/>
            <a:ext cx="231343" cy="231343"/>
          </a:xfrm>
          <a:prstGeom prst="rect">
            <a:avLst/>
          </a:prstGeom>
        </p:spPr>
      </p:pic>
      <p:sp>
        <p:nvSpPr>
          <p:cNvPr id="22" name="Text 16"/>
          <p:cNvSpPr txBox="1"/>
          <p:nvPr/>
        </p:nvSpPr>
        <p:spPr>
          <a:xfrm>
            <a:off x="7086600" y="4242816"/>
            <a:ext cx="4434840" cy="5029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4. Experience Required:</a:t>
            </a:r>
            <a:endParaRPr lang="en-US" sz="1050" dirty="0"/>
          </a:p>
        </p:txBody>
      </p:sp>
      <p:sp>
        <p:nvSpPr>
          <p:cNvPr id="23" name="Text 17"/>
          <p:cNvSpPr txBox="1"/>
          <p:nvPr/>
        </p:nvSpPr>
        <p:spPr>
          <a:xfrm>
            <a:off x="6464808" y="4846320"/>
            <a:ext cx="5038344" cy="1371600"/>
          </a:xfrm>
          <a:prstGeom prst="rect">
            <a:avLst/>
          </a:prstGeom>
          <a:noFill/>
          <a:ln/>
        </p:spPr>
        <p:txBody>
          <a:bodyPr wrap="square" lIns="0" tIns="0" rIns="0" bIns="0" rtlCol="0" anchor="t"/>
          <a:lstStyle/>
          <a:p>
            <a:pPr indent="0" marL="0">
              <a:spcAft>
                <a:spcPts val="300"/>
              </a:spcAft>
              <a:buNone/>
            </a:pPr>
            <a:r>
              <a:rPr lang="en-US" sz="1250" dirty="0">
                <a:solidFill>
                  <a:srgbClr val="F1F5F9"/>
                </a:solidFill>
                <a:latin typeface="Arial" pitchFamily="34" charset="0"/>
                <a:ea typeface="Arial" pitchFamily="34" charset="-122"/>
                <a:cs typeface="Arial" pitchFamily="34" charset="-120"/>
              </a:rPr>
              <a:t>Typically 0 to 2 years for junior positions if heavily certified, or 3 to 5 years in a foundational IT/security role like network administration or SOC analysis.</a:t>
            </a:r>
            <a:endParaRPr lang="en-US" sz="1250" dirty="0"/>
          </a:p>
          <a:p>
            <a:pPr indent="0" marL="0">
              <a:spcAft>
                <a:spcPts val="300"/>
              </a:spcAft>
              <a:buNone/>
            </a:pPr>
            <a:r>
              <a:rPr lang="en-US" sz="950" dirty="0">
                <a:solidFill>
                  <a:srgbClr val="00E5A0"/>
                </a:solidFill>
                <a:latin typeface="Courier New" pitchFamily="34" charset="0"/>
                <a:ea typeface="Courier New" pitchFamily="34" charset="-122"/>
                <a:cs typeface="Courier New" pitchFamily="34" charset="-120"/>
              </a:rPr>
              <a:t>Source: Reddit Computer Science Careers</a:t>
            </a:r>
            <a:endParaRPr lang="en-US" sz="1250" dirty="0"/>
          </a:p>
        </p:txBody>
      </p:sp>
      <p:sp>
        <p:nvSpPr>
          <p:cNvPr id="25" name="Text 18"/>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04 / 12</a:t>
            </a:r>
            <a:endParaRPr lang="en-US" sz="1000" dirty="0"/>
          </a:p>
        </p:txBody>
      </p:sp>
      <p:pic>
        <p:nvPicPr>
          <p:cNvPr id="26" name="Image 4" descr="preencoded.png">    </p:cNvPr>
          <p:cNvPicPr>
            <a:picLocks noChangeAspect="1"/>
          </p:cNvPicPr>
          <p:nvPr/>
        </p:nvPicPr>
        <p:blipFill>
          <a:blip r:embed="rId8"/>
          <a:stretch>
            <a:fillRect/>
          </a:stretch>
        </p:blipFill>
        <p:spPr>
          <a:xfrm>
            <a:off x="457200" y="6428232"/>
            <a:ext cx="201168" cy="201168"/>
          </a:xfrm>
          <a:prstGeom prst="rect">
            <a:avLst/>
          </a:prstGeom>
        </p:spPr>
      </p:pic>
      <p:sp>
        <p:nvSpPr>
          <p:cNvPr id="27" name="Shape 19"/>
          <p:cNvSpPr/>
          <p:nvPr/>
        </p:nvSpPr>
        <p:spPr>
          <a:xfrm>
            <a:off x="429768" y="6400800"/>
            <a:ext cx="256032" cy="256032"/>
          </a:xfrm>
          <a:prstGeom prst="ellipse">
            <a:avLst/>
          </a:prstGeom>
          <a:solidFill>
            <a:srgbClr val="00E5A0"/>
          </a:solidFill>
          <a:ln w="12700">
            <a:solidFill>
              <a:srgbClr val="00E5A0"/>
            </a:solidFill>
            <a:prstDash val="solid"/>
          </a:ln>
        </p:spPr>
      </p:sp>
      <p:pic>
        <p:nvPicPr>
          <p:cNvPr id="28" name="Image 5" descr="preencoded.png">    </p:cNvPr>
          <p:cNvPicPr>
            <a:picLocks noChangeAspect="1"/>
          </p:cNvPicPr>
          <p:nvPr/>
        </p:nvPicPr>
        <p:blipFill>
          <a:blip r:embed="rId9"/>
          <a:stretch>
            <a:fillRect/>
          </a:stretch>
        </p:blipFill>
        <p:spPr>
          <a:xfrm>
            <a:off x="484632" y="6455664"/>
            <a:ext cx="146304" cy="146304"/>
          </a:xfrm>
          <a:prstGeom prst="rect">
            <a:avLst/>
          </a:prstGeom>
        </p:spPr>
      </p:pic>
      <p:sp>
        <p:nvSpPr>
          <p:cNvPr id="29" name="Text 20"/>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05  JOB POSTING · SALARY</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Job Posting</a:t>
            </a:r>
            <a:endParaRPr lang="en-US" sz="3200" dirty="0"/>
          </a:p>
        </p:txBody>
      </p:sp>
      <p:sp>
        <p:nvSpPr>
          <p:cNvPr id="4" name="Shape 2"/>
          <p:cNvSpPr/>
          <p:nvPr/>
        </p:nvSpPr>
        <p:spPr>
          <a:xfrm>
            <a:off x="548640" y="1554480"/>
            <a:ext cx="6766560" cy="1481328"/>
          </a:xfrm>
          <a:prstGeom prst="roundRect">
            <a:avLst>
              <a:gd name="adj" fmla="val 8642"/>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749808" y="1783080"/>
            <a:ext cx="502920" cy="502920"/>
          </a:xfrm>
          <a:prstGeom prst="ellipse">
            <a:avLst/>
          </a:prstGeom>
          <a:solidFill>
            <a:srgbClr val="00E5A0">
              <a:alpha val="18000"/>
            </a:srgbClr>
          </a:solidFill>
          <a:ln w="9525">
            <a:solidFill>
              <a:srgbClr val="00E5A0">
                <a:alpha val="60000"/>
              </a:srgbClr>
            </a:solidFill>
            <a:prstDash val="solid"/>
          </a:ln>
        </p:spPr>
      </p:sp>
      <p:pic>
        <p:nvPicPr>
          <p:cNvPr id="6" name="Image 0" descr="preencoded.png">    </p:cNvPr>
          <p:cNvPicPr>
            <a:picLocks noChangeAspect="1"/>
          </p:cNvPicPr>
          <p:nvPr/>
        </p:nvPicPr>
        <p:blipFill>
          <a:blip r:embed="rId2"/>
          <a:stretch>
            <a:fillRect/>
          </a:stretch>
        </p:blipFill>
        <p:spPr>
          <a:xfrm>
            <a:off x="885596" y="1918868"/>
            <a:ext cx="231343" cy="231343"/>
          </a:xfrm>
          <a:prstGeom prst="rect">
            <a:avLst/>
          </a:prstGeom>
        </p:spPr>
      </p:pic>
      <p:sp>
        <p:nvSpPr>
          <p:cNvPr id="7" name="Text 4"/>
          <p:cNvSpPr txBox="1"/>
          <p:nvPr/>
        </p:nvSpPr>
        <p:spPr>
          <a:xfrm>
            <a:off x="1417320" y="1755648"/>
            <a:ext cx="5029200" cy="2743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5. Salary for this job:</a:t>
            </a:r>
            <a:endParaRPr lang="en-US" sz="1050" dirty="0"/>
          </a:p>
        </p:txBody>
      </p:sp>
      <p:sp>
        <p:nvSpPr>
          <p:cNvPr id="8" name="Text 5"/>
          <p:cNvSpPr txBox="1"/>
          <p:nvPr/>
        </p:nvSpPr>
        <p:spPr>
          <a:xfrm>
            <a:off x="1417320" y="2011680"/>
            <a:ext cx="5669280" cy="457200"/>
          </a:xfrm>
          <a:prstGeom prst="rect">
            <a:avLst/>
          </a:prstGeom>
          <a:noFill/>
          <a:ln/>
        </p:spPr>
        <p:txBody>
          <a:bodyPr wrap="square" lIns="0" tIns="0" rIns="0" bIns="0" rtlCol="0" anchor="ctr"/>
          <a:lstStyle/>
          <a:p>
            <a:pPr indent="0" marL="0">
              <a:buNone/>
            </a:pPr>
            <a:r>
              <a:rPr lang="en-US" sz="2400" b="1" dirty="0">
                <a:solidFill>
                  <a:srgbClr val="00E5A0"/>
                </a:solidFill>
                <a:latin typeface="Arial" pitchFamily="34" charset="0"/>
                <a:ea typeface="Arial" pitchFamily="34" charset="-122"/>
                <a:cs typeface="Arial" pitchFamily="34" charset="-120"/>
              </a:rPr>
              <a:t>$95,000 – $130,000</a:t>
            </a:r>
            <a:endParaRPr lang="en-US" sz="2400" dirty="0"/>
          </a:p>
        </p:txBody>
      </p:sp>
      <p:sp>
        <p:nvSpPr>
          <p:cNvPr id="9" name="Text 6"/>
          <p:cNvSpPr txBox="1"/>
          <p:nvPr/>
        </p:nvSpPr>
        <p:spPr>
          <a:xfrm>
            <a:off x="1417320" y="2468880"/>
            <a:ext cx="5669280" cy="502920"/>
          </a:xfrm>
          <a:prstGeom prst="rect">
            <a:avLst/>
          </a:prstGeom>
          <a:noFill/>
          <a:ln/>
        </p:spPr>
        <p:txBody>
          <a:bodyPr wrap="square" lIns="0" tIns="0" rIns="0" bIns="0" rtlCol="0" anchor="t"/>
          <a:lstStyle/>
          <a:p>
            <a:pPr indent="0" marL="0">
              <a:spcAft>
                <a:spcPts val="100"/>
              </a:spcAft>
              <a:buNone/>
            </a:pPr>
            <a:r>
              <a:rPr lang="en-US" sz="1150" dirty="0">
                <a:solidFill>
                  <a:srgbClr val="F1F5F9"/>
                </a:solidFill>
                <a:latin typeface="Arial" pitchFamily="34" charset="0"/>
                <a:ea typeface="Arial" pitchFamily="34" charset="-122"/>
                <a:cs typeface="Arial" pitchFamily="34" charset="-120"/>
              </a:rPr>
              <a:t>The average annual salary ranges between $95,000 and $130,000 USD (approximately $130,000 CAD in major markets like Toronto).</a:t>
            </a:r>
            <a:endParaRPr lang="en-US" sz="1150" dirty="0"/>
          </a:p>
          <a:p>
            <a:pPr indent="0" marL="0">
              <a:spcAft>
                <a:spcPts val="100"/>
              </a:spcAft>
              <a:buNone/>
            </a:pPr>
            <a:r>
              <a:rPr lang="en-US" sz="950" u="sng" dirty="0">
                <a:solidFill>
                  <a:srgbClr val="00E5A0"/>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Morgan McKinley Salary Guide</a:t>
            </a:r>
            <a:endParaRPr lang="en-US" sz="1150" dirty="0"/>
          </a:p>
        </p:txBody>
      </p:sp>
      <p:sp>
        <p:nvSpPr>
          <p:cNvPr id="10" name="Shape 7"/>
          <p:cNvSpPr/>
          <p:nvPr/>
        </p:nvSpPr>
        <p:spPr>
          <a:xfrm>
            <a:off x="548640" y="3127248"/>
            <a:ext cx="6766560" cy="1481328"/>
          </a:xfrm>
          <a:prstGeom prst="roundRect">
            <a:avLst>
              <a:gd name="adj" fmla="val 8642"/>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1" name="Shape 8"/>
          <p:cNvSpPr/>
          <p:nvPr/>
        </p:nvSpPr>
        <p:spPr>
          <a:xfrm>
            <a:off x="749808" y="3355848"/>
            <a:ext cx="502920" cy="502920"/>
          </a:xfrm>
          <a:prstGeom prst="ellipse">
            <a:avLst/>
          </a:prstGeom>
          <a:solidFill>
            <a:srgbClr val="38BDF8">
              <a:alpha val="18000"/>
            </a:srgbClr>
          </a:solidFill>
          <a:ln w="9525">
            <a:solidFill>
              <a:srgbClr val="38BDF8">
                <a:alpha val="60000"/>
              </a:srgbClr>
            </a:solidFill>
            <a:prstDash val="solid"/>
          </a:ln>
        </p:spPr>
      </p:sp>
      <p:pic>
        <p:nvPicPr>
          <p:cNvPr id="12" name="Image 1" descr="preencoded.png">    </p:cNvPr>
          <p:cNvPicPr>
            <a:picLocks noChangeAspect="1"/>
          </p:cNvPicPr>
          <p:nvPr/>
        </p:nvPicPr>
        <p:blipFill>
          <a:blip r:embed="rId4"/>
          <a:stretch>
            <a:fillRect/>
          </a:stretch>
        </p:blipFill>
        <p:spPr>
          <a:xfrm>
            <a:off x="885596" y="3491636"/>
            <a:ext cx="231343" cy="231343"/>
          </a:xfrm>
          <a:prstGeom prst="rect">
            <a:avLst/>
          </a:prstGeom>
        </p:spPr>
      </p:pic>
      <p:sp>
        <p:nvSpPr>
          <p:cNvPr id="13" name="Text 9"/>
          <p:cNvSpPr txBox="1"/>
          <p:nvPr/>
        </p:nvSpPr>
        <p:spPr>
          <a:xfrm>
            <a:off x="1417320" y="3328416"/>
            <a:ext cx="5029200" cy="2743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6. Salary range for entry level:</a:t>
            </a:r>
            <a:endParaRPr lang="en-US" sz="1050" dirty="0"/>
          </a:p>
        </p:txBody>
      </p:sp>
      <p:sp>
        <p:nvSpPr>
          <p:cNvPr id="14" name="Text 10"/>
          <p:cNvSpPr txBox="1"/>
          <p:nvPr/>
        </p:nvSpPr>
        <p:spPr>
          <a:xfrm>
            <a:off x="1417320" y="3584448"/>
            <a:ext cx="5669280" cy="4572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$75,000 – $95,000</a:t>
            </a:r>
            <a:endParaRPr lang="en-US" sz="2400" dirty="0"/>
          </a:p>
        </p:txBody>
      </p:sp>
      <p:sp>
        <p:nvSpPr>
          <p:cNvPr id="15" name="Text 11"/>
          <p:cNvSpPr txBox="1"/>
          <p:nvPr/>
        </p:nvSpPr>
        <p:spPr>
          <a:xfrm>
            <a:off x="1417320" y="4041648"/>
            <a:ext cx="5669280" cy="502920"/>
          </a:xfrm>
          <a:prstGeom prst="rect">
            <a:avLst/>
          </a:prstGeom>
          <a:noFill/>
          <a:ln/>
        </p:spPr>
        <p:txBody>
          <a:bodyPr wrap="square" lIns="0" tIns="0" rIns="0" bIns="0" rtlCol="0" anchor="t"/>
          <a:lstStyle/>
          <a:p>
            <a:pPr indent="0" marL="0">
              <a:spcAft>
                <a:spcPts val="100"/>
              </a:spcAft>
              <a:buNone/>
            </a:pPr>
            <a:r>
              <a:rPr lang="en-US" sz="1150" dirty="0">
                <a:solidFill>
                  <a:srgbClr val="F1F5F9"/>
                </a:solidFill>
                <a:latin typeface="Arial" pitchFamily="34" charset="0"/>
                <a:ea typeface="Arial" pitchFamily="34" charset="-122"/>
                <a:cs typeface="Arial" pitchFamily="34" charset="-120"/>
              </a:rPr>
              <a:t>Between $75,000 and $95,000 USD per year for a Junior Penetration Tester.</a:t>
            </a:r>
            <a:endParaRPr lang="en-US" sz="1150" dirty="0"/>
          </a:p>
          <a:p>
            <a:pPr indent="0" marL="0">
              <a:spcAft>
                <a:spcPts val="100"/>
              </a:spcAft>
              <a:buNone/>
            </a:pPr>
            <a:r>
              <a:rPr lang="en-US" sz="950" u="sng" dirty="0">
                <a:solidFill>
                  <a:srgbClr val="00E5A0"/>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 HackerDNA Salary Breakdown</a:t>
            </a:r>
            <a:endParaRPr lang="en-US" sz="1150" dirty="0"/>
          </a:p>
        </p:txBody>
      </p:sp>
      <p:sp>
        <p:nvSpPr>
          <p:cNvPr id="16" name="Shape 12"/>
          <p:cNvSpPr/>
          <p:nvPr/>
        </p:nvSpPr>
        <p:spPr>
          <a:xfrm>
            <a:off x="548640" y="4700016"/>
            <a:ext cx="6766560" cy="1481328"/>
          </a:xfrm>
          <a:prstGeom prst="roundRect">
            <a:avLst>
              <a:gd name="adj" fmla="val 8642"/>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7" name="Shape 13"/>
          <p:cNvSpPr/>
          <p:nvPr/>
        </p:nvSpPr>
        <p:spPr>
          <a:xfrm>
            <a:off x="749808" y="4928616"/>
            <a:ext cx="502920" cy="502920"/>
          </a:xfrm>
          <a:prstGeom prst="ellipse">
            <a:avLst/>
          </a:prstGeom>
          <a:solidFill>
            <a:srgbClr val="FBBF24">
              <a:alpha val="18000"/>
            </a:srgbClr>
          </a:solidFill>
          <a:ln w="9525">
            <a:solidFill>
              <a:srgbClr val="FBBF24">
                <a:alpha val="60000"/>
              </a:srgbClr>
            </a:solidFill>
            <a:prstDash val="solid"/>
          </a:ln>
        </p:spPr>
      </p:sp>
      <p:pic>
        <p:nvPicPr>
          <p:cNvPr id="18" name="Image 2" descr="preencoded.png">    </p:cNvPr>
          <p:cNvPicPr>
            <a:picLocks noChangeAspect="1"/>
          </p:cNvPicPr>
          <p:nvPr/>
        </p:nvPicPr>
        <p:blipFill>
          <a:blip r:embed="rId6"/>
          <a:stretch>
            <a:fillRect/>
          </a:stretch>
        </p:blipFill>
        <p:spPr>
          <a:xfrm>
            <a:off x="885596" y="5064404"/>
            <a:ext cx="231343" cy="231343"/>
          </a:xfrm>
          <a:prstGeom prst="rect">
            <a:avLst/>
          </a:prstGeom>
        </p:spPr>
      </p:pic>
      <p:sp>
        <p:nvSpPr>
          <p:cNvPr id="19" name="Text 14"/>
          <p:cNvSpPr txBox="1"/>
          <p:nvPr/>
        </p:nvSpPr>
        <p:spPr>
          <a:xfrm>
            <a:off x="1417320" y="4901184"/>
            <a:ext cx="5029200" cy="274320"/>
          </a:xfrm>
          <a:prstGeom prst="rect">
            <a:avLst/>
          </a:prstGeom>
          <a:noFill/>
          <a:ln/>
        </p:spPr>
        <p:txBody>
          <a:bodyPr wrap="square" lIns="0" tIns="0" rIns="0" bIns="0" rtlCol="0" anchor="ctr"/>
          <a:lstStyle/>
          <a:p>
            <a:pPr indent="0" marL="0">
              <a:buNone/>
            </a:pPr>
            <a:r>
              <a:rPr lang="en-US" sz="1050" spc="100" kern="0" dirty="0">
                <a:solidFill>
                  <a:srgbClr val="38BDF8"/>
                </a:solidFill>
                <a:latin typeface="Courier New" pitchFamily="34" charset="0"/>
                <a:ea typeface="Courier New" pitchFamily="34" charset="-122"/>
                <a:cs typeface="Courier New" pitchFamily="34" charset="-120"/>
              </a:rPr>
              <a:t>7. Salary for experienced level:</a:t>
            </a:r>
            <a:endParaRPr lang="en-US" sz="1050" dirty="0"/>
          </a:p>
        </p:txBody>
      </p:sp>
      <p:sp>
        <p:nvSpPr>
          <p:cNvPr id="20" name="Text 15"/>
          <p:cNvSpPr txBox="1"/>
          <p:nvPr/>
        </p:nvSpPr>
        <p:spPr>
          <a:xfrm>
            <a:off x="1417320" y="5157216"/>
            <a:ext cx="5669280" cy="457200"/>
          </a:xfrm>
          <a:prstGeom prst="rect">
            <a:avLst/>
          </a:prstGeom>
          <a:noFill/>
          <a:ln/>
        </p:spPr>
        <p:txBody>
          <a:bodyPr wrap="square" lIns="0" tIns="0" rIns="0" bIns="0" rtlCol="0" anchor="ctr"/>
          <a:lstStyle/>
          <a:p>
            <a:pPr indent="0" marL="0">
              <a:buNone/>
            </a:pPr>
            <a:r>
              <a:rPr lang="en-US" sz="2400" b="1" dirty="0">
                <a:solidFill>
                  <a:srgbClr val="FBBF24"/>
                </a:solidFill>
                <a:latin typeface="Arial" pitchFamily="34" charset="0"/>
                <a:ea typeface="Arial" pitchFamily="34" charset="-122"/>
                <a:cs typeface="Arial" pitchFamily="34" charset="-120"/>
              </a:rPr>
              <a:t>$150,000 – $200,000+</a:t>
            </a:r>
            <a:endParaRPr lang="en-US" sz="2400" dirty="0"/>
          </a:p>
        </p:txBody>
      </p:sp>
      <p:sp>
        <p:nvSpPr>
          <p:cNvPr id="21" name="Text 16"/>
          <p:cNvSpPr txBox="1"/>
          <p:nvPr/>
        </p:nvSpPr>
        <p:spPr>
          <a:xfrm>
            <a:off x="1417320" y="5614416"/>
            <a:ext cx="5669280" cy="502920"/>
          </a:xfrm>
          <a:prstGeom prst="rect">
            <a:avLst/>
          </a:prstGeom>
          <a:noFill/>
          <a:ln/>
        </p:spPr>
        <p:txBody>
          <a:bodyPr wrap="square" lIns="0" tIns="0" rIns="0" bIns="0" rtlCol="0" anchor="t"/>
          <a:lstStyle/>
          <a:p>
            <a:pPr indent="0" marL="0">
              <a:spcAft>
                <a:spcPts val="100"/>
              </a:spcAft>
              <a:buNone/>
            </a:pPr>
            <a:r>
              <a:rPr lang="en-US" sz="1150" dirty="0">
                <a:solidFill>
                  <a:srgbClr val="F1F5F9"/>
                </a:solidFill>
                <a:latin typeface="Arial" pitchFamily="34" charset="0"/>
                <a:ea typeface="Arial" pitchFamily="34" charset="-122"/>
                <a:cs typeface="Arial" pitchFamily="34" charset="-120"/>
              </a:rPr>
              <a:t>Between $150,000 and $200,000+ USD per year for a Lead or Principal Penetration Tester.</a:t>
            </a:r>
            <a:endParaRPr lang="en-US" sz="1150" dirty="0"/>
          </a:p>
          <a:p>
            <a:pPr indent="0" marL="0">
              <a:spcAft>
                <a:spcPts val="100"/>
              </a:spcAft>
              <a:buNone/>
            </a:pPr>
            <a:r>
              <a:rPr lang="en-US" sz="950" dirty="0">
                <a:solidFill>
                  <a:srgbClr val="00E5A0"/>
                </a:solidFill>
                <a:latin typeface="Courier New" pitchFamily="34" charset="0"/>
                <a:ea typeface="Courier New" pitchFamily="34" charset="-122"/>
                <a:cs typeface="Courier New" pitchFamily="34" charset="-120"/>
              </a:rPr>
              <a:t>Source: HackerDNA Salary Breakdown</a:t>
            </a:r>
            <a:endParaRPr lang="en-US" sz="1150" dirty="0"/>
          </a:p>
        </p:txBody>
      </p:sp>
      <p:sp>
        <p:nvSpPr>
          <p:cNvPr id="22" name="Shape 17"/>
          <p:cNvSpPr/>
          <p:nvPr/>
        </p:nvSpPr>
        <p:spPr>
          <a:xfrm>
            <a:off x="7589520" y="1554480"/>
            <a:ext cx="4069080" cy="4663440"/>
          </a:xfrm>
          <a:prstGeom prst="roundRect">
            <a:avLst>
              <a:gd name="adj" fmla="val 3146"/>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3" name="Text 18"/>
          <p:cNvSpPr txBox="1"/>
          <p:nvPr/>
        </p:nvSpPr>
        <p:spPr>
          <a:xfrm>
            <a:off x="7863840" y="1828800"/>
            <a:ext cx="3657600" cy="274320"/>
          </a:xfrm>
          <a:prstGeom prst="rect">
            <a:avLst/>
          </a:prstGeom>
          <a:noFill/>
          <a:ln/>
        </p:spPr>
        <p:txBody>
          <a:bodyPr wrap="square" lIns="0" tIns="0" rIns="0" bIns="0" rtlCol="0" anchor="ctr"/>
          <a:lstStyle/>
          <a:p>
            <a:pPr indent="0" marL="0">
              <a:buNone/>
            </a:pPr>
            <a:r>
              <a:rPr lang="en-US" sz="1000" spc="300" kern="0" dirty="0">
                <a:solidFill>
                  <a:srgbClr val="5B6B85"/>
                </a:solidFill>
                <a:latin typeface="Courier New" pitchFamily="34" charset="0"/>
                <a:ea typeface="Courier New" pitchFamily="34" charset="-122"/>
                <a:cs typeface="Courier New" pitchFamily="34" charset="-120"/>
              </a:rPr>
              <a:t>USD PER YEAR</a:t>
            </a:r>
            <a:endParaRPr lang="en-US" sz="1000" dirty="0"/>
          </a:p>
        </p:txBody>
      </p:sp>
      <p:sp>
        <p:nvSpPr>
          <p:cNvPr id="24" name="Text 19"/>
          <p:cNvSpPr txBox="1"/>
          <p:nvPr/>
        </p:nvSpPr>
        <p:spPr>
          <a:xfrm>
            <a:off x="7863840" y="2331720"/>
            <a:ext cx="3520440" cy="274320"/>
          </a:xfrm>
          <a:prstGeom prst="rect">
            <a:avLst/>
          </a:prstGeom>
          <a:noFill/>
          <a:ln/>
        </p:spPr>
        <p:txBody>
          <a:bodyPr wrap="square" lIns="0" tIns="0" rIns="0" bIns="0" rtlCol="0" anchor="ctr"/>
          <a:lstStyle/>
          <a:p>
            <a:pPr indent="0" marL="0">
              <a:buNone/>
            </a:pPr>
            <a:r>
              <a:rPr lang="en-US" sz="1100" i="1" dirty="0">
                <a:solidFill>
                  <a:srgbClr val="9FB0C8"/>
                </a:solidFill>
                <a:latin typeface="Arial" pitchFamily="34" charset="0"/>
                <a:ea typeface="Arial" pitchFamily="34" charset="-122"/>
                <a:cs typeface="Arial" pitchFamily="34" charset="-120"/>
              </a:rPr>
              <a:t>Junior Penetration Tester</a:t>
            </a:r>
            <a:endParaRPr lang="en-US" sz="1100" dirty="0"/>
          </a:p>
        </p:txBody>
      </p:sp>
      <p:sp>
        <p:nvSpPr>
          <p:cNvPr id="25" name="Shape 20"/>
          <p:cNvSpPr/>
          <p:nvPr/>
        </p:nvSpPr>
        <p:spPr>
          <a:xfrm>
            <a:off x="7863840" y="2679192"/>
            <a:ext cx="3520440" cy="310896"/>
          </a:xfrm>
          <a:prstGeom prst="roundRect">
            <a:avLst>
              <a:gd name="adj" fmla="val 50000"/>
            </a:avLst>
          </a:prstGeom>
          <a:solidFill>
            <a:srgbClr val="23304A"/>
          </a:solidFill>
          <a:ln w="12700">
            <a:solidFill>
              <a:srgbClr val="23304A"/>
            </a:solidFill>
            <a:prstDash val="solid"/>
          </a:ln>
        </p:spPr>
      </p:sp>
      <p:sp>
        <p:nvSpPr>
          <p:cNvPr id="26" name="Shape 21"/>
          <p:cNvSpPr/>
          <p:nvPr/>
        </p:nvSpPr>
        <p:spPr>
          <a:xfrm>
            <a:off x="9063990" y="2679192"/>
            <a:ext cx="320040" cy="310896"/>
          </a:xfrm>
          <a:prstGeom prst="roundRect">
            <a:avLst>
              <a:gd name="adj" fmla="val 50000"/>
            </a:avLst>
          </a:prstGeom>
          <a:solidFill>
            <a:srgbClr val="38BDF8"/>
          </a:solidFill>
          <a:ln w="12700">
            <a:solidFill>
              <a:srgbClr val="38BDF8"/>
            </a:solidFill>
            <a:prstDash val="solid"/>
          </a:ln>
          <a:effectLst>
            <a:outerShdw sx="100000" sy="100000" kx="0" ky="0" algn="bl" rotWithShape="0" blurRad="127000" dist="50800" dir="5400000">
              <a:srgbClr val="38BDF8">
                <a:alpha val="50000"/>
              </a:srgbClr>
            </a:outerShdw>
          </a:effectLst>
        </p:spPr>
      </p:sp>
      <p:sp>
        <p:nvSpPr>
          <p:cNvPr id="27" name="Text 22"/>
          <p:cNvSpPr txBox="1"/>
          <p:nvPr/>
        </p:nvSpPr>
        <p:spPr>
          <a:xfrm>
            <a:off x="7863840" y="3044952"/>
            <a:ext cx="3520440" cy="274320"/>
          </a:xfrm>
          <a:prstGeom prst="rect">
            <a:avLst/>
          </a:prstGeom>
          <a:noFill/>
          <a:ln/>
        </p:spPr>
        <p:txBody>
          <a:bodyPr wrap="square" lIns="0" tIns="0" rIns="0" bIns="0" rtlCol="0" anchor="ctr"/>
          <a:lstStyle/>
          <a:p>
            <a:pPr indent="0" marL="0">
              <a:buNone/>
            </a:pPr>
            <a:r>
              <a:rPr lang="en-US" sz="1050" dirty="0">
                <a:solidFill>
                  <a:srgbClr val="38BDF8"/>
                </a:solidFill>
                <a:latin typeface="Courier New" pitchFamily="34" charset="0"/>
                <a:ea typeface="Courier New" pitchFamily="34" charset="-122"/>
                <a:cs typeface="Courier New" pitchFamily="34" charset="-120"/>
              </a:rPr>
              <a:t>$75K – $95K</a:t>
            </a:r>
            <a:endParaRPr lang="en-US" sz="1050" dirty="0"/>
          </a:p>
        </p:txBody>
      </p:sp>
      <p:sp>
        <p:nvSpPr>
          <p:cNvPr id="28" name="Text 23"/>
          <p:cNvSpPr txBox="1"/>
          <p:nvPr/>
        </p:nvSpPr>
        <p:spPr>
          <a:xfrm>
            <a:off x="7863840" y="3566160"/>
            <a:ext cx="3520440" cy="274320"/>
          </a:xfrm>
          <a:prstGeom prst="rect">
            <a:avLst/>
          </a:prstGeom>
          <a:noFill/>
          <a:ln/>
        </p:spPr>
        <p:txBody>
          <a:bodyPr wrap="square" lIns="0" tIns="0" rIns="0" bIns="0" rtlCol="0" anchor="ctr"/>
          <a:lstStyle/>
          <a:p>
            <a:pPr indent="0" marL="0">
              <a:buNone/>
            </a:pPr>
            <a:r>
              <a:rPr lang="en-US" sz="1100" i="1" dirty="0">
                <a:solidFill>
                  <a:srgbClr val="9FB0C8"/>
                </a:solidFill>
                <a:latin typeface="Arial" pitchFamily="34" charset="0"/>
                <a:ea typeface="Arial" pitchFamily="34" charset="-122"/>
                <a:cs typeface="Arial" pitchFamily="34" charset="-120"/>
              </a:rPr>
              <a:t>average annual salary</a:t>
            </a:r>
            <a:endParaRPr lang="en-US" sz="1100" dirty="0"/>
          </a:p>
        </p:txBody>
      </p:sp>
      <p:sp>
        <p:nvSpPr>
          <p:cNvPr id="29" name="Shape 24"/>
          <p:cNvSpPr/>
          <p:nvPr/>
        </p:nvSpPr>
        <p:spPr>
          <a:xfrm>
            <a:off x="7863840" y="3913632"/>
            <a:ext cx="3520440" cy="310896"/>
          </a:xfrm>
          <a:prstGeom prst="roundRect">
            <a:avLst>
              <a:gd name="adj" fmla="val 50000"/>
            </a:avLst>
          </a:prstGeom>
          <a:solidFill>
            <a:srgbClr val="23304A"/>
          </a:solidFill>
          <a:ln w="12700">
            <a:solidFill>
              <a:srgbClr val="23304A"/>
            </a:solidFill>
            <a:prstDash val="solid"/>
          </a:ln>
        </p:spPr>
      </p:sp>
      <p:sp>
        <p:nvSpPr>
          <p:cNvPr id="30" name="Shape 25"/>
          <p:cNvSpPr/>
          <p:nvPr/>
        </p:nvSpPr>
        <p:spPr>
          <a:xfrm>
            <a:off x="9384030" y="3913632"/>
            <a:ext cx="560070" cy="310896"/>
          </a:xfrm>
          <a:prstGeom prst="roundRect">
            <a:avLst>
              <a:gd name="adj" fmla="val 50000"/>
            </a:avLst>
          </a:prstGeom>
          <a:solidFill>
            <a:srgbClr val="00E5A0"/>
          </a:solidFill>
          <a:ln w="12700">
            <a:solidFill>
              <a:srgbClr val="00E5A0"/>
            </a:solidFill>
            <a:prstDash val="solid"/>
          </a:ln>
          <a:effectLst>
            <a:outerShdw sx="100000" sy="100000" kx="0" ky="0" algn="bl" rotWithShape="0" blurRad="127000" dist="50800" dir="5400000">
              <a:srgbClr val="00E5A0">
                <a:alpha val="50000"/>
              </a:srgbClr>
            </a:outerShdw>
          </a:effectLst>
        </p:spPr>
      </p:sp>
      <p:sp>
        <p:nvSpPr>
          <p:cNvPr id="31" name="Text 26"/>
          <p:cNvSpPr txBox="1"/>
          <p:nvPr/>
        </p:nvSpPr>
        <p:spPr>
          <a:xfrm>
            <a:off x="7863840" y="4279392"/>
            <a:ext cx="3520440" cy="274320"/>
          </a:xfrm>
          <a:prstGeom prst="rect">
            <a:avLst/>
          </a:prstGeom>
          <a:noFill/>
          <a:ln/>
        </p:spPr>
        <p:txBody>
          <a:bodyPr wrap="square" lIns="0" tIns="0" rIns="0" bIns="0" rtlCol="0" anchor="ctr"/>
          <a:lstStyle/>
          <a:p>
            <a:pPr indent="0" marL="0">
              <a:buNone/>
            </a:pPr>
            <a:r>
              <a:rPr lang="en-US" sz="1050" dirty="0">
                <a:solidFill>
                  <a:srgbClr val="00E5A0"/>
                </a:solidFill>
                <a:latin typeface="Courier New" pitchFamily="34" charset="0"/>
                <a:ea typeface="Courier New" pitchFamily="34" charset="-122"/>
                <a:cs typeface="Courier New" pitchFamily="34" charset="-120"/>
              </a:rPr>
              <a:t>$95K – $130K</a:t>
            </a:r>
            <a:endParaRPr lang="en-US" sz="1050" dirty="0"/>
          </a:p>
        </p:txBody>
      </p:sp>
      <p:sp>
        <p:nvSpPr>
          <p:cNvPr id="32" name="Text 27"/>
          <p:cNvSpPr txBox="1"/>
          <p:nvPr/>
        </p:nvSpPr>
        <p:spPr>
          <a:xfrm>
            <a:off x="7863840" y="4800600"/>
            <a:ext cx="3520440" cy="274320"/>
          </a:xfrm>
          <a:prstGeom prst="rect">
            <a:avLst/>
          </a:prstGeom>
          <a:noFill/>
          <a:ln/>
        </p:spPr>
        <p:txBody>
          <a:bodyPr wrap="square" lIns="0" tIns="0" rIns="0" bIns="0" rtlCol="0" anchor="ctr"/>
          <a:lstStyle/>
          <a:p>
            <a:pPr indent="0" marL="0">
              <a:buNone/>
            </a:pPr>
            <a:r>
              <a:rPr lang="en-US" sz="1100" i="1" dirty="0">
                <a:solidFill>
                  <a:srgbClr val="9FB0C8"/>
                </a:solidFill>
                <a:latin typeface="Arial" pitchFamily="34" charset="0"/>
                <a:ea typeface="Arial" pitchFamily="34" charset="-122"/>
                <a:cs typeface="Arial" pitchFamily="34" charset="-120"/>
              </a:rPr>
              <a:t>Lead or Principal Penetration Tester</a:t>
            </a:r>
            <a:endParaRPr lang="en-US" sz="1100" dirty="0"/>
          </a:p>
        </p:txBody>
      </p:sp>
      <p:sp>
        <p:nvSpPr>
          <p:cNvPr id="33" name="Shape 28"/>
          <p:cNvSpPr/>
          <p:nvPr/>
        </p:nvSpPr>
        <p:spPr>
          <a:xfrm>
            <a:off x="7863840" y="5148072"/>
            <a:ext cx="3520440" cy="310896"/>
          </a:xfrm>
          <a:prstGeom prst="roundRect">
            <a:avLst>
              <a:gd name="adj" fmla="val 50000"/>
            </a:avLst>
          </a:prstGeom>
          <a:solidFill>
            <a:srgbClr val="23304A"/>
          </a:solidFill>
          <a:ln w="12700">
            <a:solidFill>
              <a:srgbClr val="23304A"/>
            </a:solidFill>
            <a:prstDash val="solid"/>
          </a:ln>
        </p:spPr>
      </p:sp>
      <p:sp>
        <p:nvSpPr>
          <p:cNvPr id="34" name="Shape 29"/>
          <p:cNvSpPr/>
          <p:nvPr/>
        </p:nvSpPr>
        <p:spPr>
          <a:xfrm>
            <a:off x="10264140" y="5148072"/>
            <a:ext cx="800100" cy="310896"/>
          </a:xfrm>
          <a:prstGeom prst="roundRect">
            <a:avLst>
              <a:gd name="adj" fmla="val 50000"/>
            </a:avLst>
          </a:prstGeom>
          <a:solidFill>
            <a:srgbClr val="FBBF24"/>
          </a:solidFill>
          <a:ln w="12700">
            <a:solidFill>
              <a:srgbClr val="FBBF24"/>
            </a:solidFill>
            <a:prstDash val="solid"/>
          </a:ln>
          <a:effectLst>
            <a:outerShdw sx="100000" sy="100000" kx="0" ky="0" algn="bl" rotWithShape="0" blurRad="127000" dist="50800" dir="5400000">
              <a:srgbClr val="FBBF24">
                <a:alpha val="50000"/>
              </a:srgbClr>
            </a:outerShdw>
          </a:effectLst>
        </p:spPr>
      </p:sp>
      <p:sp>
        <p:nvSpPr>
          <p:cNvPr id="35" name="Text 30"/>
          <p:cNvSpPr txBox="1"/>
          <p:nvPr/>
        </p:nvSpPr>
        <p:spPr>
          <a:xfrm>
            <a:off x="7863840" y="5513832"/>
            <a:ext cx="3520440" cy="274320"/>
          </a:xfrm>
          <a:prstGeom prst="rect">
            <a:avLst/>
          </a:prstGeom>
          <a:noFill/>
          <a:ln/>
        </p:spPr>
        <p:txBody>
          <a:bodyPr wrap="square" lIns="0" tIns="0" rIns="0" bIns="0" rtlCol="0" anchor="ctr"/>
          <a:lstStyle/>
          <a:p>
            <a:pPr indent="0" marL="0">
              <a:buNone/>
            </a:pPr>
            <a:r>
              <a:rPr lang="en-US" sz="1050" dirty="0">
                <a:solidFill>
                  <a:srgbClr val="FBBF24"/>
                </a:solidFill>
                <a:latin typeface="Courier New" pitchFamily="34" charset="0"/>
                <a:ea typeface="Courier New" pitchFamily="34" charset="-122"/>
                <a:cs typeface="Courier New" pitchFamily="34" charset="-120"/>
              </a:rPr>
              <a:t>$150K – $200K+</a:t>
            </a:r>
            <a:endParaRPr lang="en-US" sz="1050" dirty="0"/>
          </a:p>
        </p:txBody>
      </p:sp>
      <p:sp>
        <p:nvSpPr>
          <p:cNvPr id="36" name="Text 31"/>
          <p:cNvSpPr txBox="1"/>
          <p:nvPr/>
        </p:nvSpPr>
        <p:spPr>
          <a:xfrm>
            <a:off x="7863840" y="5897880"/>
            <a:ext cx="914400" cy="228600"/>
          </a:xfrm>
          <a:prstGeom prst="rect">
            <a:avLst/>
          </a:prstGeom>
          <a:noFill/>
          <a:ln/>
        </p:spPr>
        <p:txBody>
          <a:bodyPr wrap="square" lIns="0" tIns="0" rIns="0" bIns="0" rtlCol="0" anchor="ctr"/>
          <a:lstStyle/>
          <a:p>
            <a:pPr indent="0" marL="0">
              <a:buNone/>
            </a:pPr>
            <a:r>
              <a:rPr lang="en-US" sz="900" dirty="0">
                <a:solidFill>
                  <a:srgbClr val="5B6B85"/>
                </a:solidFill>
                <a:latin typeface="Courier New" pitchFamily="34" charset="0"/>
                <a:ea typeface="Courier New" pitchFamily="34" charset="-122"/>
                <a:cs typeface="Courier New" pitchFamily="34" charset="-120"/>
              </a:rPr>
              <a:t>$0</a:t>
            </a:r>
            <a:endParaRPr lang="en-US" sz="900" dirty="0"/>
          </a:p>
        </p:txBody>
      </p:sp>
      <p:sp>
        <p:nvSpPr>
          <p:cNvPr id="37" name="Text 32"/>
          <p:cNvSpPr txBox="1"/>
          <p:nvPr/>
        </p:nvSpPr>
        <p:spPr>
          <a:xfrm>
            <a:off x="10469880" y="5897880"/>
            <a:ext cx="914400" cy="228600"/>
          </a:xfrm>
          <a:prstGeom prst="rect">
            <a:avLst/>
          </a:prstGeom>
          <a:noFill/>
          <a:ln/>
        </p:spPr>
        <p:txBody>
          <a:bodyPr wrap="square" lIns="0" tIns="0" rIns="0" bIns="0" rtlCol="0" anchor="ctr"/>
          <a:lstStyle/>
          <a:p>
            <a:pPr algn="r" indent="0" marL="0">
              <a:buNone/>
            </a:pPr>
            <a:r>
              <a:rPr lang="en-US" sz="900" dirty="0">
                <a:solidFill>
                  <a:srgbClr val="5B6B85"/>
                </a:solidFill>
                <a:latin typeface="Courier New" pitchFamily="34" charset="0"/>
                <a:ea typeface="Courier New" pitchFamily="34" charset="-122"/>
                <a:cs typeface="Courier New" pitchFamily="34" charset="-120"/>
              </a:rPr>
              <a:t>$220K</a:t>
            </a:r>
            <a:endParaRPr lang="en-US" sz="900" dirty="0"/>
          </a:p>
        </p:txBody>
      </p:sp>
      <p:sp>
        <p:nvSpPr>
          <p:cNvPr id="39" name="Text 33"/>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05 / 12</a:t>
            </a:r>
            <a:endParaRPr lang="en-US" sz="1000" dirty="0"/>
          </a:p>
        </p:txBody>
      </p:sp>
      <p:pic>
        <p:nvPicPr>
          <p:cNvPr id="40" name="Image 3" descr="preencoded.png">    </p:cNvPr>
          <p:cNvPicPr>
            <a:picLocks noChangeAspect="1"/>
          </p:cNvPicPr>
          <p:nvPr/>
        </p:nvPicPr>
        <p:blipFill>
          <a:blip r:embed="rId7"/>
          <a:stretch>
            <a:fillRect/>
          </a:stretch>
        </p:blipFill>
        <p:spPr>
          <a:xfrm>
            <a:off x="457200" y="6428232"/>
            <a:ext cx="201168" cy="201168"/>
          </a:xfrm>
          <a:prstGeom prst="rect">
            <a:avLst/>
          </a:prstGeom>
        </p:spPr>
      </p:pic>
      <p:sp>
        <p:nvSpPr>
          <p:cNvPr id="41" name="Shape 34"/>
          <p:cNvSpPr/>
          <p:nvPr/>
        </p:nvSpPr>
        <p:spPr>
          <a:xfrm>
            <a:off x="429768" y="6400800"/>
            <a:ext cx="256032" cy="256032"/>
          </a:xfrm>
          <a:prstGeom prst="ellipse">
            <a:avLst/>
          </a:prstGeom>
          <a:solidFill>
            <a:srgbClr val="00E5A0"/>
          </a:solidFill>
          <a:ln w="12700">
            <a:solidFill>
              <a:srgbClr val="00E5A0"/>
            </a:solidFill>
            <a:prstDash val="solid"/>
          </a:ln>
        </p:spPr>
      </p:sp>
      <p:pic>
        <p:nvPicPr>
          <p:cNvPr id="42" name="Image 4" descr="preencoded.png">    </p:cNvPr>
          <p:cNvPicPr>
            <a:picLocks noChangeAspect="1"/>
          </p:cNvPicPr>
          <p:nvPr/>
        </p:nvPicPr>
        <p:blipFill>
          <a:blip r:embed="rId8"/>
          <a:stretch>
            <a:fillRect/>
          </a:stretch>
        </p:blipFill>
        <p:spPr>
          <a:xfrm>
            <a:off x="484632" y="6455664"/>
            <a:ext cx="146304" cy="146304"/>
          </a:xfrm>
          <a:prstGeom prst="rect">
            <a:avLst/>
          </a:prstGeom>
        </p:spPr>
      </p:pic>
      <p:sp>
        <p:nvSpPr>
          <p:cNvPr id="43" name="Text 35"/>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06  DEMAND</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Job Outlook</a:t>
            </a:r>
            <a:endParaRPr lang="en-US" sz="3200" dirty="0"/>
          </a:p>
        </p:txBody>
      </p:sp>
      <p:sp>
        <p:nvSpPr>
          <p:cNvPr id="4" name="Shape 2"/>
          <p:cNvSpPr/>
          <p:nvPr/>
        </p:nvSpPr>
        <p:spPr>
          <a:xfrm>
            <a:off x="548640" y="1645920"/>
            <a:ext cx="4754880" cy="4480560"/>
          </a:xfrm>
          <a:prstGeom prst="roundRect">
            <a:avLst>
              <a:gd name="adj" fmla="val 2857"/>
            </a:avLst>
          </a:prstGeom>
          <a:solidFill>
            <a:srgbClr val="0F2A26"/>
          </a:solidFill>
          <a:ln w="15875">
            <a:solidFill>
              <a:srgbClr val="00E5A0"/>
            </a:solidFill>
            <a:prstDash val="solid"/>
          </a:ln>
          <a:effectLst>
            <a:outerShdw sx="100000" sy="100000" kx="0" ky="0" algn="bl" rotWithShape="0" blurRad="254000" dist="50800" dir="5400000">
              <a:srgbClr val="00E5A0">
                <a:alpha val="35000"/>
              </a:srgbClr>
            </a:outerShdw>
          </a:effectLst>
        </p:spPr>
      </p:sp>
      <p:sp>
        <p:nvSpPr>
          <p:cNvPr id="5" name="Shape 3"/>
          <p:cNvSpPr/>
          <p:nvPr/>
        </p:nvSpPr>
        <p:spPr>
          <a:xfrm>
            <a:off x="868680" y="1965960"/>
            <a:ext cx="640080" cy="640080"/>
          </a:xfrm>
          <a:prstGeom prst="ellipse">
            <a:avLst/>
          </a:prstGeom>
          <a:solidFill>
            <a:srgbClr val="00E5A0">
              <a:alpha val="18000"/>
            </a:srgbClr>
          </a:solidFill>
          <a:ln w="9525">
            <a:solidFill>
              <a:srgbClr val="00E5A0">
                <a:alpha val="60000"/>
              </a:srgbClr>
            </a:solidFill>
            <a:prstDash val="solid"/>
          </a:ln>
        </p:spPr>
      </p:sp>
      <p:pic>
        <p:nvPicPr>
          <p:cNvPr id="6" name="Image 0" descr="preencoded.png">    </p:cNvPr>
          <p:cNvPicPr>
            <a:picLocks noChangeAspect="1"/>
          </p:cNvPicPr>
          <p:nvPr/>
        </p:nvPicPr>
        <p:blipFill>
          <a:blip r:embed="rId2"/>
          <a:stretch>
            <a:fillRect/>
          </a:stretch>
        </p:blipFill>
        <p:spPr>
          <a:xfrm>
            <a:off x="1041502" y="2138782"/>
            <a:ext cx="294437" cy="294437"/>
          </a:xfrm>
          <a:prstGeom prst="rect">
            <a:avLst/>
          </a:prstGeom>
        </p:spPr>
      </p:pic>
      <p:sp>
        <p:nvSpPr>
          <p:cNvPr id="7" name="Text 4"/>
          <p:cNvSpPr txBox="1"/>
          <p:nvPr/>
        </p:nvSpPr>
        <p:spPr>
          <a:xfrm>
            <a:off x="1691640" y="2103120"/>
            <a:ext cx="3200400" cy="36576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GLOBAL SHORTAGE</a:t>
            </a:r>
            <a:endParaRPr lang="en-US" sz="1100" dirty="0"/>
          </a:p>
        </p:txBody>
      </p:sp>
      <p:sp>
        <p:nvSpPr>
          <p:cNvPr id="8" name="Text 5"/>
          <p:cNvSpPr txBox="1"/>
          <p:nvPr/>
        </p:nvSpPr>
        <p:spPr>
          <a:xfrm>
            <a:off x="868680" y="2788920"/>
            <a:ext cx="4206240" cy="1463040"/>
          </a:xfrm>
          <a:prstGeom prst="rect">
            <a:avLst/>
          </a:prstGeom>
          <a:noFill/>
          <a:ln/>
        </p:spPr>
        <p:txBody>
          <a:bodyPr wrap="square" lIns="0" tIns="0" rIns="0" bIns="0" rtlCol="0" anchor="ctr"/>
          <a:lstStyle/>
          <a:p>
            <a:pPr indent="0" marL="0">
              <a:buNone/>
            </a:pPr>
            <a:r>
              <a:rPr lang="en-US" sz="11000" b="1" dirty="0">
                <a:solidFill>
                  <a:srgbClr val="FFFFFF"/>
                </a:solidFill>
                <a:latin typeface="Arial" pitchFamily="34" charset="0"/>
                <a:ea typeface="Arial" pitchFamily="34" charset="-122"/>
                <a:cs typeface="Arial" pitchFamily="34" charset="-120"/>
              </a:rPr>
              <a:t>4.8</a:t>
            </a:r>
            <a:endParaRPr lang="en-US" sz="11000" dirty="0"/>
          </a:p>
        </p:txBody>
      </p:sp>
      <p:sp>
        <p:nvSpPr>
          <p:cNvPr id="9" name="Text 6"/>
          <p:cNvSpPr txBox="1"/>
          <p:nvPr/>
        </p:nvSpPr>
        <p:spPr>
          <a:xfrm>
            <a:off x="868680" y="4251960"/>
            <a:ext cx="4206240" cy="548640"/>
          </a:xfrm>
          <a:prstGeom prst="rect">
            <a:avLst/>
          </a:prstGeom>
          <a:noFill/>
          <a:ln/>
        </p:spPr>
        <p:txBody>
          <a:bodyPr wrap="square" lIns="0" tIns="0" rIns="0" bIns="0" rtlCol="0" anchor="ctr"/>
          <a:lstStyle/>
          <a:p>
            <a:pPr indent="0" marL="0">
              <a:buNone/>
            </a:pPr>
            <a:r>
              <a:rPr lang="en-US" sz="2800" b="1" dirty="0">
                <a:solidFill>
                  <a:srgbClr val="00E5A0"/>
                </a:solidFill>
                <a:latin typeface="Arial" pitchFamily="34" charset="0"/>
                <a:ea typeface="Arial" pitchFamily="34" charset="-122"/>
                <a:cs typeface="Arial" pitchFamily="34" charset="-120"/>
              </a:rPr>
              <a:t>million jobs</a:t>
            </a:r>
            <a:endParaRPr lang="en-US" sz="2800" dirty="0"/>
          </a:p>
        </p:txBody>
      </p:sp>
      <p:sp>
        <p:nvSpPr>
          <p:cNvPr id="10" name="Text 7"/>
          <p:cNvSpPr txBox="1"/>
          <p:nvPr/>
        </p:nvSpPr>
        <p:spPr>
          <a:xfrm>
            <a:off x="868680" y="4983480"/>
            <a:ext cx="4206240" cy="365760"/>
          </a:xfrm>
          <a:prstGeom prst="rect">
            <a:avLst/>
          </a:prstGeom>
          <a:noFill/>
          <a:ln/>
        </p:spPr>
        <p:txBody>
          <a:bodyPr wrap="square" lIns="0" tIns="0" rIns="0" bIns="0" rtlCol="0" anchor="t"/>
          <a:lstStyle/>
          <a:p>
            <a:pPr indent="0" marL="0">
              <a:buNone/>
            </a:pPr>
            <a:r>
              <a:rPr lang="en-US" sz="1200" dirty="0">
                <a:solidFill>
                  <a:srgbClr val="9FB0C8"/>
                </a:solidFill>
                <a:latin typeface="Arial" pitchFamily="34" charset="0"/>
                <a:ea typeface="Arial" pitchFamily="34" charset="-122"/>
                <a:cs typeface="Arial" pitchFamily="34" charset="-120"/>
              </a:rPr>
              <a:t>According to </a:t>
            </a:r>
            <a:pPr indent="0" marL="0">
              <a:buNone/>
            </a:pPr>
            <a:r>
              <a:rPr lang="en-US" sz="1200" u="sng" dirty="0">
                <a:solidFill>
                  <a:srgbClr val="38BDF8"/>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a:t>
            </a:r>
            <a:endParaRPr lang="en-US" sz="1200" dirty="0"/>
          </a:p>
        </p:txBody>
      </p:sp>
      <p:sp>
        <p:nvSpPr>
          <p:cNvPr id="11" name="Shape 8"/>
          <p:cNvSpPr/>
          <p:nvPr/>
        </p:nvSpPr>
        <p:spPr>
          <a:xfrm>
            <a:off x="5577840" y="1645920"/>
            <a:ext cx="6080760" cy="2148840"/>
          </a:xfrm>
          <a:prstGeom prst="roundRect">
            <a:avLst>
              <a:gd name="adj" fmla="val 5957"/>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2" name="Text 9"/>
          <p:cNvSpPr txBox="1"/>
          <p:nvPr/>
        </p:nvSpPr>
        <p:spPr>
          <a:xfrm>
            <a:off x="5852160" y="1874520"/>
            <a:ext cx="5577840" cy="502920"/>
          </a:xfrm>
          <a:prstGeom prst="rect">
            <a:avLst/>
          </a:prstGeom>
          <a:noFill/>
          <a:ln/>
        </p:spPr>
        <p:txBody>
          <a:bodyPr wrap="square" lIns="0" tIns="0" rIns="0" bIns="0" rtlCol="0" anchor="t"/>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1.  Is it currently in high demand?</a:t>
            </a:r>
            <a:endParaRPr lang="en-US" sz="1100" dirty="0"/>
          </a:p>
        </p:txBody>
      </p:sp>
      <p:sp>
        <p:nvSpPr>
          <p:cNvPr id="13" name="Shape 10"/>
          <p:cNvSpPr/>
          <p:nvPr/>
        </p:nvSpPr>
        <p:spPr>
          <a:xfrm>
            <a:off x="5852160" y="2468880"/>
            <a:ext cx="457200" cy="0"/>
          </a:xfrm>
          <a:prstGeom prst="line">
            <a:avLst/>
          </a:prstGeom>
          <a:noFill/>
          <a:ln w="25400">
            <a:solidFill>
              <a:srgbClr val="00E5A0"/>
            </a:solidFill>
            <a:prstDash val="solid"/>
          </a:ln>
        </p:spPr>
      </p:sp>
      <p:sp>
        <p:nvSpPr>
          <p:cNvPr id="14" name="Text 11"/>
          <p:cNvSpPr txBox="1"/>
          <p:nvPr/>
        </p:nvSpPr>
        <p:spPr>
          <a:xfrm>
            <a:off x="5852160" y="2560320"/>
            <a:ext cx="5577840" cy="1097280"/>
          </a:xfrm>
          <a:prstGeom prst="rect">
            <a:avLst/>
          </a:prstGeom>
          <a:noFill/>
          <a:ln/>
        </p:spPr>
        <p:txBody>
          <a:bodyPr wrap="square" lIns="0" tIns="0" rIns="0" bIns="0" rtlCol="0" anchor="t"/>
          <a:lstStyle/>
          <a:p>
            <a:pPr indent="0" marL="0">
              <a:lnSpc>
                <a:spcPct val="110000"/>
              </a:lnSpc>
              <a:buNone/>
            </a:pPr>
            <a:r>
              <a:rPr lang="en-US" sz="1500" dirty="0">
                <a:solidFill>
                  <a:srgbClr val="F1F5F9"/>
                </a:solidFill>
                <a:latin typeface="Arial" pitchFamily="34" charset="0"/>
                <a:ea typeface="Arial" pitchFamily="34" charset="-122"/>
                <a:cs typeface="Arial" pitchFamily="34" charset="-120"/>
              </a:rPr>
              <a:t>According to </a:t>
            </a:r>
            <a:pPr indent="0" marL="0">
              <a:lnSpc>
                <a:spcPct val="110000"/>
              </a:lnSpc>
              <a:buNone/>
            </a:pPr>
            <a:r>
              <a:rPr lang="en-US" sz="1500" u="sng" dirty="0">
                <a:solidFill>
                  <a:srgbClr val="38BDF8"/>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Linkedin</a:t>
            </a:r>
            <a:pPr indent="0" marL="0">
              <a:lnSpc>
                <a:spcPct val="110000"/>
              </a:lnSpc>
              <a:buNone/>
            </a:pPr>
            <a:r>
              <a:rPr lang="en-US" sz="1500" dirty="0">
                <a:solidFill>
                  <a:srgbClr val="F1F5F9"/>
                </a:solidFill>
                <a:latin typeface="Arial" pitchFamily="34" charset="0"/>
                <a:ea typeface="Arial" pitchFamily="34" charset="-122"/>
                <a:cs typeface="Arial" pitchFamily="34" charset="-120"/>
              </a:rPr>
              <a:t> penetration testing has a global shortage of 4.8 million jobs.</a:t>
            </a:r>
            <a:endParaRPr lang="en-US" sz="1500" dirty="0"/>
          </a:p>
        </p:txBody>
      </p:sp>
      <p:sp>
        <p:nvSpPr>
          <p:cNvPr id="15" name="Shape 12"/>
          <p:cNvSpPr/>
          <p:nvPr/>
        </p:nvSpPr>
        <p:spPr>
          <a:xfrm>
            <a:off x="5577840" y="3977640"/>
            <a:ext cx="6080760" cy="2148840"/>
          </a:xfrm>
          <a:prstGeom prst="roundRect">
            <a:avLst>
              <a:gd name="adj" fmla="val 5957"/>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6" name="Text 13"/>
          <p:cNvSpPr txBox="1"/>
          <p:nvPr/>
        </p:nvSpPr>
        <p:spPr>
          <a:xfrm>
            <a:off x="5852160" y="4206240"/>
            <a:ext cx="5577840" cy="502920"/>
          </a:xfrm>
          <a:prstGeom prst="rect">
            <a:avLst/>
          </a:prstGeom>
          <a:noFill/>
          <a:ln/>
        </p:spPr>
        <p:txBody>
          <a:bodyPr wrap="square" lIns="0" tIns="0" rIns="0" bIns="0" rtlCol="0" anchor="t"/>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2.  Will there be a high demand in the future when you graduate university?</a:t>
            </a:r>
            <a:endParaRPr lang="en-US" sz="1100" dirty="0"/>
          </a:p>
        </p:txBody>
      </p:sp>
      <p:sp>
        <p:nvSpPr>
          <p:cNvPr id="17" name="Shape 14"/>
          <p:cNvSpPr/>
          <p:nvPr/>
        </p:nvSpPr>
        <p:spPr>
          <a:xfrm>
            <a:off x="5852160" y="4800600"/>
            <a:ext cx="457200" cy="0"/>
          </a:xfrm>
          <a:prstGeom prst="line">
            <a:avLst/>
          </a:prstGeom>
          <a:noFill/>
          <a:ln w="25400">
            <a:solidFill>
              <a:srgbClr val="00E5A0"/>
            </a:solidFill>
            <a:prstDash val="solid"/>
          </a:ln>
        </p:spPr>
      </p:sp>
      <p:sp>
        <p:nvSpPr>
          <p:cNvPr id="18" name="Text 15"/>
          <p:cNvSpPr txBox="1"/>
          <p:nvPr/>
        </p:nvSpPr>
        <p:spPr>
          <a:xfrm>
            <a:off x="5852160" y="4892040"/>
            <a:ext cx="5577840" cy="1097280"/>
          </a:xfrm>
          <a:prstGeom prst="rect">
            <a:avLst/>
          </a:prstGeom>
          <a:noFill/>
          <a:ln/>
        </p:spPr>
        <p:txBody>
          <a:bodyPr wrap="square" lIns="0" tIns="0" rIns="0" bIns="0" rtlCol="0" anchor="t"/>
          <a:lstStyle/>
          <a:p>
            <a:pPr indent="0" marL="0">
              <a:lnSpc>
                <a:spcPct val="110000"/>
              </a:lnSpc>
              <a:buNone/>
            </a:pPr>
            <a:r>
              <a:rPr lang="en-US" sz="1500" dirty="0">
                <a:solidFill>
                  <a:srgbClr val="F1F5F9"/>
                </a:solidFill>
                <a:latin typeface="Arial" pitchFamily="34" charset="0"/>
                <a:ea typeface="Arial" pitchFamily="34" charset="-122"/>
                <a:cs typeface="Arial" pitchFamily="34" charset="-120"/>
              </a:rPr>
              <a:t>Yes 4.8 million jobs will not be filled in one 3 years.</a:t>
            </a:r>
            <a:endParaRPr lang="en-US" sz="1500" dirty="0"/>
          </a:p>
        </p:txBody>
      </p:sp>
      <p:sp>
        <p:nvSpPr>
          <p:cNvPr id="20" name="Text 16"/>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06 / 12</a:t>
            </a:r>
            <a:endParaRPr lang="en-US" sz="1000" dirty="0"/>
          </a:p>
        </p:txBody>
      </p:sp>
      <p:pic>
        <p:nvPicPr>
          <p:cNvPr id="21" name="Image 1" descr="preencoded.png">    </p:cNvPr>
          <p:cNvPicPr>
            <a:picLocks noChangeAspect="1"/>
          </p:cNvPicPr>
          <p:nvPr/>
        </p:nvPicPr>
        <p:blipFill>
          <a:blip r:embed="rId5"/>
          <a:stretch>
            <a:fillRect/>
          </a:stretch>
        </p:blipFill>
        <p:spPr>
          <a:xfrm>
            <a:off x="457200" y="6428232"/>
            <a:ext cx="201168" cy="201168"/>
          </a:xfrm>
          <a:prstGeom prst="rect">
            <a:avLst/>
          </a:prstGeom>
        </p:spPr>
      </p:pic>
      <p:sp>
        <p:nvSpPr>
          <p:cNvPr id="22" name="Shape 17"/>
          <p:cNvSpPr/>
          <p:nvPr/>
        </p:nvSpPr>
        <p:spPr>
          <a:xfrm>
            <a:off x="429768" y="6400800"/>
            <a:ext cx="256032" cy="256032"/>
          </a:xfrm>
          <a:prstGeom prst="ellipse">
            <a:avLst/>
          </a:prstGeom>
          <a:solidFill>
            <a:srgbClr val="00E5A0"/>
          </a:solidFill>
          <a:ln w="12700">
            <a:solidFill>
              <a:srgbClr val="00E5A0"/>
            </a:solidFill>
            <a:prstDash val="solid"/>
          </a:ln>
        </p:spPr>
      </p:sp>
      <p:pic>
        <p:nvPicPr>
          <p:cNvPr id="23" name="Image 2" descr="preencoded.png">    </p:cNvPr>
          <p:cNvPicPr>
            <a:picLocks noChangeAspect="1"/>
          </p:cNvPicPr>
          <p:nvPr/>
        </p:nvPicPr>
        <p:blipFill>
          <a:blip r:embed="rId6"/>
          <a:stretch>
            <a:fillRect/>
          </a:stretch>
        </p:blipFill>
        <p:spPr>
          <a:xfrm>
            <a:off x="484632" y="6455664"/>
            <a:ext cx="146304" cy="146304"/>
          </a:xfrm>
          <a:prstGeom prst="rect">
            <a:avLst/>
          </a:prstGeom>
        </p:spPr>
      </p:pic>
      <p:sp>
        <p:nvSpPr>
          <p:cNvPr id="24" name="Text 18"/>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07  MY TAKE ON THE JOB</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do you think?</a:t>
            </a:r>
            <a:endParaRPr lang="en-US" sz="3200" dirty="0"/>
          </a:p>
        </p:txBody>
      </p:sp>
      <p:sp>
        <p:nvSpPr>
          <p:cNvPr id="4" name="Shape 2"/>
          <p:cNvSpPr/>
          <p:nvPr/>
        </p:nvSpPr>
        <p:spPr>
          <a:xfrm>
            <a:off x="548640" y="1783080"/>
            <a:ext cx="5394960" cy="4206240"/>
          </a:xfrm>
          <a:prstGeom prst="roundRect">
            <a:avLst>
              <a:gd name="adj" fmla="val 3043"/>
            </a:avLst>
          </a:prstGeom>
          <a:solidFill>
            <a:srgbClr val="0F2A26"/>
          </a:solidFill>
          <a:ln w="12700">
            <a:solidFill>
              <a:srgbClr val="00E5A0"/>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868680" y="2103120"/>
            <a:ext cx="868680" cy="868680"/>
          </a:xfrm>
          <a:prstGeom prst="ellipse">
            <a:avLst/>
          </a:prstGeom>
          <a:solidFill>
            <a:srgbClr val="00E5A0">
              <a:alpha val="20000"/>
            </a:srgbClr>
          </a:solidFill>
          <a:ln w="12700">
            <a:solidFill>
              <a:srgbClr val="00E5A0">
                <a:alpha val="70000"/>
              </a:srgbClr>
            </a:solidFill>
            <a:prstDash val="solid"/>
          </a:ln>
        </p:spPr>
      </p:sp>
      <p:pic>
        <p:nvPicPr>
          <p:cNvPr id="6" name="Image 0" descr="preencoded.png">    </p:cNvPr>
          <p:cNvPicPr>
            <a:picLocks noChangeAspect="1"/>
          </p:cNvPicPr>
          <p:nvPr/>
        </p:nvPicPr>
        <p:blipFill>
          <a:blip r:embed="rId2"/>
          <a:stretch>
            <a:fillRect/>
          </a:stretch>
        </p:blipFill>
        <p:spPr>
          <a:xfrm>
            <a:off x="1097280" y="2331720"/>
            <a:ext cx="411480" cy="411480"/>
          </a:xfrm>
          <a:prstGeom prst="rect">
            <a:avLst/>
          </a:prstGeom>
        </p:spPr>
      </p:pic>
      <p:sp>
        <p:nvSpPr>
          <p:cNvPr id="7" name="Text 4"/>
          <p:cNvSpPr txBox="1"/>
          <p:nvPr/>
        </p:nvSpPr>
        <p:spPr>
          <a:xfrm>
            <a:off x="868680" y="3200400"/>
            <a:ext cx="4754880" cy="685800"/>
          </a:xfrm>
          <a:prstGeom prst="rect">
            <a:avLst/>
          </a:prstGeom>
          <a:noFill/>
          <a:ln/>
        </p:spPr>
        <p:txBody>
          <a:bodyPr wrap="square" lIns="0" tIns="0" rIns="0" bIns="0" rtlCol="0" anchor="t"/>
          <a:lstStyle/>
          <a:p>
            <a:pPr indent="0" marL="0">
              <a:buNone/>
            </a:pPr>
            <a:r>
              <a:rPr lang="en-US" sz="1100" spc="100" kern="0" dirty="0">
                <a:solidFill>
                  <a:srgbClr val="00E5A0"/>
                </a:solidFill>
                <a:latin typeface="Courier New" pitchFamily="34" charset="0"/>
                <a:ea typeface="Courier New" pitchFamily="34" charset="-122"/>
                <a:cs typeface="Courier New" pitchFamily="34" charset="-120"/>
              </a:rPr>
              <a:t>What interests you most about the job? (1 or 2 sentences)</a:t>
            </a:r>
            <a:endParaRPr lang="en-US" sz="1100" dirty="0"/>
          </a:p>
        </p:txBody>
      </p:sp>
      <p:sp>
        <p:nvSpPr>
          <p:cNvPr id="8" name="Text 5"/>
          <p:cNvSpPr txBox="1"/>
          <p:nvPr/>
        </p:nvSpPr>
        <p:spPr>
          <a:xfrm>
            <a:off x="868680" y="3931920"/>
            <a:ext cx="4754880" cy="1828800"/>
          </a:xfrm>
          <a:prstGeom prst="rect">
            <a:avLst/>
          </a:prstGeom>
          <a:noFill/>
          <a:ln/>
        </p:spPr>
        <p:txBody>
          <a:bodyPr wrap="square" lIns="0" tIns="0" rIns="0" bIns="0" rtlCol="0" anchor="t"/>
          <a:lstStyle/>
          <a:p>
            <a:pPr indent="0" marL="0">
              <a:lnSpc>
                <a:spcPct val="115000"/>
              </a:lnSpc>
              <a:buNone/>
            </a:pPr>
            <a:r>
              <a:rPr lang="en-US" sz="1900" dirty="0">
                <a:solidFill>
                  <a:srgbClr val="F1F5F9"/>
                </a:solidFill>
                <a:latin typeface="Arial" pitchFamily="34" charset="0"/>
                <a:ea typeface="Arial" pitchFamily="34" charset="-122"/>
                <a:cs typeface="Arial" pitchFamily="34" charset="-120"/>
              </a:rPr>
              <a:t>The job requires mathematical and visual problem solving skills thinks which are things i enjoy.</a:t>
            </a:r>
            <a:endParaRPr lang="en-US" sz="1900" dirty="0"/>
          </a:p>
        </p:txBody>
      </p:sp>
      <p:sp>
        <p:nvSpPr>
          <p:cNvPr id="9" name="Shape 6"/>
          <p:cNvSpPr/>
          <p:nvPr/>
        </p:nvSpPr>
        <p:spPr>
          <a:xfrm>
            <a:off x="6263640" y="1783080"/>
            <a:ext cx="5394960" cy="4206240"/>
          </a:xfrm>
          <a:prstGeom prst="roundRect">
            <a:avLst>
              <a:gd name="adj" fmla="val 3043"/>
            </a:avLst>
          </a:prstGeom>
          <a:solidFill>
            <a:srgbClr val="2A1420"/>
          </a:solidFill>
          <a:ln w="12700">
            <a:solidFill>
              <a:srgbClr val="FB7185"/>
            </a:solidFill>
            <a:prstDash val="solid"/>
          </a:ln>
          <a:effectLst>
            <a:outerShdw sx="100000" sy="100000" kx="0" ky="0" algn="bl" rotWithShape="0" blurRad="177800" dist="63500" dir="5400000">
              <a:srgbClr val="000000">
                <a:alpha val="45000"/>
              </a:srgbClr>
            </a:outerShdw>
          </a:effectLst>
        </p:spPr>
      </p:sp>
      <p:sp>
        <p:nvSpPr>
          <p:cNvPr id="10" name="Shape 7"/>
          <p:cNvSpPr/>
          <p:nvPr/>
        </p:nvSpPr>
        <p:spPr>
          <a:xfrm>
            <a:off x="6583680" y="2103120"/>
            <a:ext cx="868680" cy="868680"/>
          </a:xfrm>
          <a:prstGeom prst="ellipse">
            <a:avLst/>
          </a:prstGeom>
          <a:solidFill>
            <a:srgbClr val="FB7185">
              <a:alpha val="20000"/>
            </a:srgbClr>
          </a:solidFill>
          <a:ln w="12700">
            <a:solidFill>
              <a:srgbClr val="FB7185">
                <a:alpha val="70000"/>
              </a:srgbClr>
            </a:solidFill>
            <a:prstDash val="solid"/>
          </a:ln>
        </p:spPr>
      </p:sp>
      <p:pic>
        <p:nvPicPr>
          <p:cNvPr id="11" name="Image 1" descr="preencoded.png">    </p:cNvPr>
          <p:cNvPicPr>
            <a:picLocks noChangeAspect="1"/>
          </p:cNvPicPr>
          <p:nvPr/>
        </p:nvPicPr>
        <p:blipFill>
          <a:blip r:embed="rId3"/>
          <a:stretch>
            <a:fillRect/>
          </a:stretch>
        </p:blipFill>
        <p:spPr>
          <a:xfrm>
            <a:off x="6812280" y="2331720"/>
            <a:ext cx="411480" cy="411480"/>
          </a:xfrm>
          <a:prstGeom prst="rect">
            <a:avLst/>
          </a:prstGeom>
        </p:spPr>
      </p:pic>
      <p:sp>
        <p:nvSpPr>
          <p:cNvPr id="12" name="Text 8"/>
          <p:cNvSpPr txBox="1"/>
          <p:nvPr/>
        </p:nvSpPr>
        <p:spPr>
          <a:xfrm>
            <a:off x="6583680" y="3200400"/>
            <a:ext cx="4754880" cy="685800"/>
          </a:xfrm>
          <a:prstGeom prst="rect">
            <a:avLst/>
          </a:prstGeom>
          <a:noFill/>
          <a:ln/>
        </p:spPr>
        <p:txBody>
          <a:bodyPr wrap="square" lIns="0" tIns="0" rIns="0" bIns="0" rtlCol="0" anchor="t"/>
          <a:lstStyle/>
          <a:p>
            <a:pPr indent="0" marL="0">
              <a:buNone/>
            </a:pPr>
            <a:r>
              <a:rPr lang="en-US" sz="1100" spc="100" kern="0" dirty="0">
                <a:solidFill>
                  <a:srgbClr val="FB7185"/>
                </a:solidFill>
                <a:latin typeface="Courier New" pitchFamily="34" charset="0"/>
                <a:ea typeface="Courier New" pitchFamily="34" charset="-122"/>
                <a:cs typeface="Courier New" pitchFamily="34" charset="-120"/>
              </a:rPr>
              <a:t>What do you dislike about the job? (1 or 2 sentences)</a:t>
            </a:r>
            <a:endParaRPr lang="en-US" sz="1100" dirty="0"/>
          </a:p>
        </p:txBody>
      </p:sp>
      <p:sp>
        <p:nvSpPr>
          <p:cNvPr id="13" name="Text 9"/>
          <p:cNvSpPr txBox="1"/>
          <p:nvPr/>
        </p:nvSpPr>
        <p:spPr>
          <a:xfrm>
            <a:off x="6583680" y="3931920"/>
            <a:ext cx="4754880" cy="1828800"/>
          </a:xfrm>
          <a:prstGeom prst="rect">
            <a:avLst/>
          </a:prstGeom>
          <a:noFill/>
          <a:ln/>
        </p:spPr>
        <p:txBody>
          <a:bodyPr wrap="square" lIns="0" tIns="0" rIns="0" bIns="0" rtlCol="0" anchor="t"/>
          <a:lstStyle/>
          <a:p>
            <a:pPr indent="0" marL="0">
              <a:lnSpc>
                <a:spcPct val="115000"/>
              </a:lnSpc>
              <a:buNone/>
            </a:pPr>
            <a:r>
              <a:rPr lang="en-US" sz="1900" dirty="0">
                <a:solidFill>
                  <a:srgbClr val="F1F5F9"/>
                </a:solidFill>
                <a:latin typeface="Arial" pitchFamily="34" charset="0"/>
                <a:ea typeface="Arial" pitchFamily="34" charset="-122"/>
                <a:cs typeface="Arial" pitchFamily="34" charset="-120"/>
              </a:rPr>
              <a:t>It requires a lot of learning how to code wich is long and can be quite tiring.</a:t>
            </a:r>
            <a:endParaRPr lang="en-US" sz="1900" dirty="0"/>
          </a:p>
        </p:txBody>
      </p:sp>
      <p:sp>
        <p:nvSpPr>
          <p:cNvPr id="14" name="Text 10"/>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07 / 12</a:t>
            </a:r>
            <a:endParaRPr lang="en-US" sz="1000" dirty="0"/>
          </a:p>
        </p:txBody>
      </p:sp>
      <p:pic>
        <p:nvPicPr>
          <p:cNvPr id="15" name="Image 2" descr="preencoded.png">    </p:cNvPr>
          <p:cNvPicPr>
            <a:picLocks noChangeAspect="1"/>
          </p:cNvPicPr>
          <p:nvPr/>
        </p:nvPicPr>
        <p:blipFill>
          <a:blip r:embed="rId4"/>
          <a:stretch>
            <a:fillRect/>
          </a:stretch>
        </p:blipFill>
        <p:spPr>
          <a:xfrm>
            <a:off x="457200" y="6428232"/>
            <a:ext cx="201168" cy="201168"/>
          </a:xfrm>
          <a:prstGeom prst="rect">
            <a:avLst/>
          </a:prstGeom>
        </p:spPr>
      </p:pic>
      <p:sp>
        <p:nvSpPr>
          <p:cNvPr id="16" name="Shape 11"/>
          <p:cNvSpPr/>
          <p:nvPr/>
        </p:nvSpPr>
        <p:spPr>
          <a:xfrm>
            <a:off x="429768" y="6400800"/>
            <a:ext cx="256032" cy="256032"/>
          </a:xfrm>
          <a:prstGeom prst="ellipse">
            <a:avLst/>
          </a:prstGeom>
          <a:solidFill>
            <a:srgbClr val="00E5A0"/>
          </a:solidFill>
          <a:ln w="12700">
            <a:solidFill>
              <a:srgbClr val="00E5A0"/>
            </a:solidFill>
            <a:prstDash val="solid"/>
          </a:ln>
        </p:spPr>
      </p:sp>
      <p:pic>
        <p:nvPicPr>
          <p:cNvPr id="17" name="Image 3" descr="preencoded.png">    </p:cNvPr>
          <p:cNvPicPr>
            <a:picLocks noChangeAspect="1"/>
          </p:cNvPicPr>
          <p:nvPr/>
        </p:nvPicPr>
        <p:blipFill>
          <a:blip r:embed="rId5"/>
          <a:stretch>
            <a:fillRect/>
          </a:stretch>
        </p:blipFill>
        <p:spPr>
          <a:xfrm>
            <a:off x="484632" y="6455664"/>
            <a:ext cx="146304" cy="146304"/>
          </a:xfrm>
          <a:prstGeom prst="rect">
            <a:avLst/>
          </a:prstGeom>
        </p:spPr>
      </p:pic>
      <p:sp>
        <p:nvSpPr>
          <p:cNvPr id="18" name="Text 12"/>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08  POST-SECONDARY</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University/College Research</a:t>
            </a:r>
            <a:endParaRPr lang="en-US" sz="3200" dirty="0"/>
          </a:p>
        </p:txBody>
      </p:sp>
      <p:sp>
        <p:nvSpPr>
          <p:cNvPr id="4" name="Shape 2"/>
          <p:cNvSpPr/>
          <p:nvPr/>
        </p:nvSpPr>
        <p:spPr>
          <a:xfrm>
            <a:off x="548640" y="1645920"/>
            <a:ext cx="6675120" cy="4480560"/>
          </a:xfrm>
          <a:prstGeom prst="roundRect">
            <a:avLst>
              <a:gd name="adj" fmla="val 2857"/>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868680" y="1965960"/>
            <a:ext cx="731520" cy="731520"/>
          </a:xfrm>
          <a:prstGeom prst="ellipse">
            <a:avLst/>
          </a:prstGeom>
          <a:solidFill>
            <a:srgbClr val="38BDF8">
              <a:alpha val="18000"/>
            </a:srgbClr>
          </a:solidFill>
          <a:ln w="9525">
            <a:solidFill>
              <a:srgbClr val="38BDF8">
                <a:alpha val="60000"/>
              </a:srgbClr>
            </a:solidFill>
            <a:prstDash val="solid"/>
          </a:ln>
        </p:spPr>
      </p:sp>
      <p:pic>
        <p:nvPicPr>
          <p:cNvPr id="6" name="Image 0" descr="preencoded.png">    </p:cNvPr>
          <p:cNvPicPr>
            <a:picLocks noChangeAspect="1"/>
          </p:cNvPicPr>
          <p:nvPr/>
        </p:nvPicPr>
        <p:blipFill>
          <a:blip r:embed="rId2"/>
          <a:stretch>
            <a:fillRect/>
          </a:stretch>
        </p:blipFill>
        <p:spPr>
          <a:xfrm>
            <a:off x="1066190" y="2163470"/>
            <a:ext cx="336499" cy="336499"/>
          </a:xfrm>
          <a:prstGeom prst="rect">
            <a:avLst/>
          </a:prstGeom>
        </p:spPr>
      </p:pic>
      <p:sp>
        <p:nvSpPr>
          <p:cNvPr id="7" name="Text 4"/>
          <p:cNvSpPr txBox="1"/>
          <p:nvPr/>
        </p:nvSpPr>
        <p:spPr>
          <a:xfrm>
            <a:off x="1783080" y="2011680"/>
            <a:ext cx="5120640" cy="27432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1.  Name of University/College:</a:t>
            </a:r>
            <a:endParaRPr lang="en-US" sz="1050" dirty="0"/>
          </a:p>
        </p:txBody>
      </p:sp>
      <p:sp>
        <p:nvSpPr>
          <p:cNvPr id="8" name="Text 5"/>
          <p:cNvSpPr txBox="1"/>
          <p:nvPr/>
        </p:nvSpPr>
        <p:spPr>
          <a:xfrm>
            <a:off x="1783080" y="2267712"/>
            <a:ext cx="5120640" cy="457200"/>
          </a:xfrm>
          <a:prstGeom prst="rect">
            <a:avLst/>
          </a:prstGeom>
          <a:noFill/>
          <a:ln/>
        </p:spPr>
        <p:txBody>
          <a:bodyPr wrap="square" lIns="0" tIns="0" rIns="0" bIns="0" rtlCol="0" anchor="t"/>
          <a:lstStyle/>
          <a:p>
            <a:pPr indent="0" marL="0">
              <a:buNone/>
            </a:pPr>
            <a:r>
              <a:rPr lang="en-US" sz="2400" b="1" u="sng" dirty="0">
                <a:solidFill>
                  <a:srgbClr val="FFFF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Ontario Tech University</a:t>
            </a:r>
            <a:endParaRPr lang="en-US" sz="2400" dirty="0"/>
          </a:p>
        </p:txBody>
      </p:sp>
      <p:sp>
        <p:nvSpPr>
          <p:cNvPr id="9" name="Shape 6"/>
          <p:cNvSpPr/>
          <p:nvPr/>
        </p:nvSpPr>
        <p:spPr>
          <a:xfrm>
            <a:off x="868680" y="3035808"/>
            <a:ext cx="457200" cy="457200"/>
          </a:xfrm>
          <a:prstGeom prst="ellipse">
            <a:avLst/>
          </a:prstGeom>
          <a:solidFill>
            <a:srgbClr val="38BDF8">
              <a:alpha val="18000"/>
            </a:srgbClr>
          </a:solidFill>
          <a:ln w="12700">
            <a:solidFill>
              <a:srgbClr val="38BDF8"/>
            </a:solidFill>
            <a:prstDash val="solid"/>
          </a:ln>
        </p:spPr>
      </p:sp>
      <p:pic>
        <p:nvPicPr>
          <p:cNvPr id="10" name="Image 1" descr="preencoded.png">    </p:cNvPr>
          <p:cNvPicPr>
            <a:picLocks noChangeAspect="1"/>
          </p:cNvPicPr>
          <p:nvPr/>
        </p:nvPicPr>
        <p:blipFill>
          <a:blip r:embed="rId4"/>
          <a:stretch>
            <a:fillRect/>
          </a:stretch>
        </p:blipFill>
        <p:spPr>
          <a:xfrm>
            <a:off x="996696" y="3163824"/>
            <a:ext cx="201168" cy="201168"/>
          </a:xfrm>
          <a:prstGeom prst="rect">
            <a:avLst/>
          </a:prstGeom>
        </p:spPr>
      </p:pic>
      <p:sp>
        <p:nvSpPr>
          <p:cNvPr id="11" name="Text 7"/>
          <p:cNvSpPr txBox="1"/>
          <p:nvPr/>
        </p:nvSpPr>
        <p:spPr>
          <a:xfrm>
            <a:off x="1508760" y="3017520"/>
            <a:ext cx="5394960" cy="68580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2.  Location:</a:t>
            </a:r>
            <a:endParaRPr lang="en-US" sz="1050" dirty="0"/>
          </a:p>
          <a:p>
            <a:pPr indent="0" marL="0">
              <a:spcAft>
                <a:spcPts val="400"/>
              </a:spcAft>
              <a:buNone/>
            </a:pPr>
            <a:r>
              <a:rPr lang="en-US" sz="1600" b="1" dirty="0">
                <a:solidFill>
                  <a:srgbClr val="F1F5F9"/>
                </a:solidFill>
                <a:latin typeface="Arial" pitchFamily="34" charset="0"/>
                <a:ea typeface="Arial" pitchFamily="34" charset="-122"/>
                <a:cs typeface="Arial" pitchFamily="34" charset="-120"/>
              </a:rPr>
              <a:t>Oshawa, Ontario, Canada</a:t>
            </a:r>
            <a:endParaRPr lang="en-US" sz="1050" dirty="0"/>
          </a:p>
        </p:txBody>
      </p:sp>
      <p:sp>
        <p:nvSpPr>
          <p:cNvPr id="12" name="Shape 8"/>
          <p:cNvSpPr/>
          <p:nvPr/>
        </p:nvSpPr>
        <p:spPr>
          <a:xfrm>
            <a:off x="868680" y="3858768"/>
            <a:ext cx="457200" cy="457200"/>
          </a:xfrm>
          <a:prstGeom prst="ellipse">
            <a:avLst/>
          </a:prstGeom>
          <a:solidFill>
            <a:srgbClr val="38BDF8">
              <a:alpha val="18000"/>
            </a:srgbClr>
          </a:solidFill>
          <a:ln w="12700">
            <a:solidFill>
              <a:srgbClr val="38BDF8"/>
            </a:solidFill>
            <a:prstDash val="solid"/>
          </a:ln>
        </p:spPr>
      </p:sp>
      <p:pic>
        <p:nvPicPr>
          <p:cNvPr id="13" name="Image 2" descr="preencoded.png">    </p:cNvPr>
          <p:cNvPicPr>
            <a:picLocks noChangeAspect="1"/>
          </p:cNvPicPr>
          <p:nvPr/>
        </p:nvPicPr>
        <p:blipFill>
          <a:blip r:embed="rId5"/>
          <a:stretch>
            <a:fillRect/>
          </a:stretch>
        </p:blipFill>
        <p:spPr>
          <a:xfrm>
            <a:off x="996696" y="3986784"/>
            <a:ext cx="201168" cy="201168"/>
          </a:xfrm>
          <a:prstGeom prst="rect">
            <a:avLst/>
          </a:prstGeom>
        </p:spPr>
      </p:pic>
      <p:sp>
        <p:nvSpPr>
          <p:cNvPr id="14" name="Text 9"/>
          <p:cNvSpPr txBox="1"/>
          <p:nvPr/>
        </p:nvSpPr>
        <p:spPr>
          <a:xfrm>
            <a:off x="1508760" y="3840480"/>
            <a:ext cx="5394960" cy="105156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3.  Degree/Diploma Name:</a:t>
            </a:r>
            <a:endParaRPr lang="en-US" sz="1050" dirty="0"/>
          </a:p>
          <a:p>
            <a:pPr indent="0" marL="0">
              <a:spcAft>
                <a:spcPts val="400"/>
              </a:spcAft>
              <a:buNone/>
            </a:pPr>
            <a:r>
              <a:rPr lang="en-US" sz="1400" b="1" dirty="0">
                <a:solidFill>
                  <a:srgbClr val="F1F5F9"/>
                </a:solidFill>
                <a:latin typeface="Arial" pitchFamily="34" charset="0"/>
                <a:ea typeface="Arial" pitchFamily="34" charset="-122"/>
                <a:cs typeface="Arial" pitchFamily="34" charset="-120"/>
              </a:rPr>
              <a:t>Bachelor of Information Technology (Honours) in Networking and Information Technology Security</a:t>
            </a:r>
            <a:endParaRPr lang="en-US" sz="1050" dirty="0"/>
          </a:p>
        </p:txBody>
      </p:sp>
      <p:sp>
        <p:nvSpPr>
          <p:cNvPr id="15" name="Shape 10"/>
          <p:cNvSpPr/>
          <p:nvPr/>
        </p:nvSpPr>
        <p:spPr>
          <a:xfrm>
            <a:off x="868680" y="5047488"/>
            <a:ext cx="457200" cy="457200"/>
          </a:xfrm>
          <a:prstGeom prst="ellipse">
            <a:avLst/>
          </a:prstGeom>
          <a:solidFill>
            <a:srgbClr val="38BDF8">
              <a:alpha val="18000"/>
            </a:srgbClr>
          </a:solidFill>
          <a:ln w="12700">
            <a:solidFill>
              <a:srgbClr val="38BDF8"/>
            </a:solidFill>
            <a:prstDash val="solid"/>
          </a:ln>
        </p:spPr>
      </p:sp>
      <p:pic>
        <p:nvPicPr>
          <p:cNvPr id="16" name="Image 3" descr="preencoded.png">    </p:cNvPr>
          <p:cNvPicPr>
            <a:picLocks noChangeAspect="1"/>
          </p:cNvPicPr>
          <p:nvPr/>
        </p:nvPicPr>
        <p:blipFill>
          <a:blip r:embed="rId6"/>
          <a:stretch>
            <a:fillRect/>
          </a:stretch>
        </p:blipFill>
        <p:spPr>
          <a:xfrm>
            <a:off x="996696" y="5175504"/>
            <a:ext cx="201168" cy="201168"/>
          </a:xfrm>
          <a:prstGeom prst="rect">
            <a:avLst/>
          </a:prstGeom>
        </p:spPr>
      </p:pic>
      <p:sp>
        <p:nvSpPr>
          <p:cNvPr id="17" name="Text 11"/>
          <p:cNvSpPr txBox="1"/>
          <p:nvPr/>
        </p:nvSpPr>
        <p:spPr>
          <a:xfrm>
            <a:off x="1508760" y="5029200"/>
            <a:ext cx="5394960" cy="685800"/>
          </a:xfrm>
          <a:prstGeom prst="rect">
            <a:avLst/>
          </a:prstGeom>
          <a:noFill/>
          <a:ln/>
        </p:spPr>
        <p:txBody>
          <a:bodyPr wrap="square" lIns="0" tIns="0" rIns="0" bIns="0" rtlCol="0" anchor="t"/>
          <a:lstStyle/>
          <a:p>
            <a:pPr indent="0" marL="0">
              <a:spcAft>
                <a:spcPts val="400"/>
              </a:spcAft>
              <a:buNone/>
            </a:pPr>
            <a:r>
              <a:rPr lang="en-US" sz="1050" spc="100" kern="0" dirty="0">
                <a:solidFill>
                  <a:srgbClr val="38BDF8"/>
                </a:solidFill>
                <a:latin typeface="Courier New" pitchFamily="34" charset="0"/>
                <a:ea typeface="Courier New" pitchFamily="34" charset="-122"/>
                <a:cs typeface="Courier New" pitchFamily="34" charset="-120"/>
              </a:rPr>
              <a:t>4.  Number of Years:</a:t>
            </a:r>
            <a:endParaRPr lang="en-US" sz="1050" dirty="0"/>
          </a:p>
          <a:p>
            <a:pPr indent="0" marL="0">
              <a:spcAft>
                <a:spcPts val="400"/>
              </a:spcAft>
              <a:buNone/>
            </a:pPr>
            <a:r>
              <a:rPr lang="en-US" sz="1600" b="1" dirty="0">
                <a:solidFill>
                  <a:srgbClr val="F1F5F9"/>
                </a:solidFill>
                <a:latin typeface="Arial" pitchFamily="34" charset="0"/>
                <a:ea typeface="Arial" pitchFamily="34" charset="-122"/>
                <a:cs typeface="Arial" pitchFamily="34" charset="-120"/>
              </a:rPr>
              <a:t>4 years</a:t>
            </a:r>
            <a:endParaRPr lang="en-US" sz="1050" dirty="0"/>
          </a:p>
        </p:txBody>
      </p:sp>
      <p:sp>
        <p:nvSpPr>
          <p:cNvPr id="18" name="Text 12"/>
          <p:cNvSpPr txBox="1"/>
          <p:nvPr/>
        </p:nvSpPr>
        <p:spPr>
          <a:xfrm>
            <a:off x="7498080" y="1645920"/>
            <a:ext cx="4114800" cy="320040"/>
          </a:xfrm>
          <a:prstGeom prst="rect">
            <a:avLst/>
          </a:prstGeom>
          <a:noFill/>
          <a:ln/>
        </p:spPr>
        <p:txBody>
          <a:bodyPr wrap="square" lIns="0" tIns="0" rIns="0" bIns="0" rtlCol="0" anchor="ctr"/>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5.  Tuition Cost per year:</a:t>
            </a:r>
            <a:endParaRPr lang="en-US" sz="1100" dirty="0"/>
          </a:p>
        </p:txBody>
      </p:sp>
      <p:sp>
        <p:nvSpPr>
          <p:cNvPr id="19" name="Shape 13"/>
          <p:cNvSpPr/>
          <p:nvPr/>
        </p:nvSpPr>
        <p:spPr>
          <a:xfrm>
            <a:off x="7498080" y="2057400"/>
            <a:ext cx="4160520" cy="1965960"/>
          </a:xfrm>
          <a:prstGeom prst="roundRect">
            <a:avLst>
              <a:gd name="adj" fmla="val 6512"/>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0" name="Text 14"/>
          <p:cNvSpPr txBox="1"/>
          <p:nvPr/>
        </p:nvSpPr>
        <p:spPr>
          <a:xfrm>
            <a:off x="7772400" y="2240280"/>
            <a:ext cx="3657600" cy="274320"/>
          </a:xfrm>
          <a:prstGeom prst="rect">
            <a:avLst/>
          </a:prstGeom>
          <a:noFill/>
          <a:ln/>
        </p:spPr>
        <p:txBody>
          <a:bodyPr wrap="square" lIns="0" tIns="0" rIns="0" bIns="0" rtlCol="0" anchor="ctr"/>
          <a:lstStyle/>
          <a:p>
            <a:pPr indent="0" marL="0">
              <a:buNone/>
            </a:pPr>
            <a:r>
              <a:rPr lang="en-US" sz="1200" b="1" dirty="0">
                <a:solidFill>
                  <a:srgbClr val="9FB0C8"/>
                </a:solidFill>
                <a:latin typeface="Arial" pitchFamily="34" charset="0"/>
                <a:ea typeface="Arial" pitchFamily="34" charset="-122"/>
                <a:cs typeface="Arial" pitchFamily="34" charset="-120"/>
              </a:rPr>
              <a:t>Local (Domestic) Rate:</a:t>
            </a:r>
            <a:endParaRPr lang="en-US" sz="1200" dirty="0"/>
          </a:p>
        </p:txBody>
      </p:sp>
      <p:sp>
        <p:nvSpPr>
          <p:cNvPr id="21" name="Text 15"/>
          <p:cNvSpPr txBox="1"/>
          <p:nvPr/>
        </p:nvSpPr>
        <p:spPr>
          <a:xfrm>
            <a:off x="7772400" y="2514600"/>
            <a:ext cx="3657600" cy="731520"/>
          </a:xfrm>
          <a:prstGeom prst="rect">
            <a:avLst/>
          </a:prstGeom>
          <a:noFill/>
          <a:ln/>
        </p:spPr>
        <p:txBody>
          <a:bodyPr wrap="square" lIns="0" tIns="0" rIns="0" bIns="0" rtlCol="0" anchor="ctr"/>
          <a:lstStyle/>
          <a:p>
            <a:pPr indent="0" marL="0">
              <a:buNone/>
            </a:pPr>
            <a:r>
              <a:rPr lang="en-US" sz="4000" b="1" dirty="0">
                <a:solidFill>
                  <a:srgbClr val="00E5A0"/>
                </a:solidFill>
                <a:latin typeface="Arial" pitchFamily="34" charset="0"/>
                <a:ea typeface="Arial" pitchFamily="34" charset="-122"/>
                <a:cs typeface="Arial" pitchFamily="34" charset="-120"/>
              </a:rPr>
              <a:t>$9,031</a:t>
            </a:r>
            <a:endParaRPr lang="en-US" sz="4000" dirty="0"/>
          </a:p>
        </p:txBody>
      </p:sp>
      <p:sp>
        <p:nvSpPr>
          <p:cNvPr id="22" name="Text 16"/>
          <p:cNvSpPr txBox="1"/>
          <p:nvPr/>
        </p:nvSpPr>
        <p:spPr>
          <a:xfrm>
            <a:off x="7772400" y="3291840"/>
            <a:ext cx="3657600" cy="640080"/>
          </a:xfrm>
          <a:prstGeom prst="rect">
            <a:avLst/>
          </a:prstGeom>
          <a:noFill/>
          <a:ln/>
        </p:spPr>
        <p:txBody>
          <a:bodyPr wrap="square" lIns="0" tIns="0" rIns="0" bIns="0" rtlCol="0" anchor="t"/>
          <a:lstStyle/>
          <a:p>
            <a:pPr indent="0" marL="0">
              <a:spcAft>
                <a:spcPts val="200"/>
              </a:spcAft>
              <a:buNone/>
            </a:pPr>
            <a:r>
              <a:rPr lang="en-US" sz="1200" dirty="0">
                <a:solidFill>
                  <a:srgbClr val="F1F5F9"/>
                </a:solidFill>
                <a:latin typeface="Arial" pitchFamily="34" charset="0"/>
                <a:ea typeface="Arial" pitchFamily="34" charset="-122"/>
                <a:cs typeface="Arial" pitchFamily="34" charset="-120"/>
              </a:rPr>
              <a:t>Approximately $9,031 CAD per year</a:t>
            </a:r>
            <a:endParaRPr lang="en-US" sz="1200" dirty="0"/>
          </a:p>
          <a:p>
            <a:pPr indent="0" marL="0">
              <a:spcAft>
                <a:spcPts val="200"/>
              </a:spcAft>
              <a:buNone/>
            </a:pPr>
            <a:r>
              <a:rPr lang="en-US" sz="950" u="sng" dirty="0">
                <a:solidFill>
                  <a:srgbClr val="00E5A0"/>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Source:OntarioTechDomesticTuition</a:t>
            </a:r>
            <a:endParaRPr lang="en-US" sz="1200" dirty="0"/>
          </a:p>
        </p:txBody>
      </p:sp>
      <p:sp>
        <p:nvSpPr>
          <p:cNvPr id="23" name="Shape 17"/>
          <p:cNvSpPr/>
          <p:nvPr/>
        </p:nvSpPr>
        <p:spPr>
          <a:xfrm>
            <a:off x="7498080" y="4160520"/>
            <a:ext cx="4160520" cy="1965960"/>
          </a:xfrm>
          <a:prstGeom prst="roundRect">
            <a:avLst>
              <a:gd name="adj" fmla="val 6512"/>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24" name="Text 18"/>
          <p:cNvSpPr txBox="1"/>
          <p:nvPr/>
        </p:nvSpPr>
        <p:spPr>
          <a:xfrm>
            <a:off x="7772400" y="4343400"/>
            <a:ext cx="3657600" cy="274320"/>
          </a:xfrm>
          <a:prstGeom prst="rect">
            <a:avLst/>
          </a:prstGeom>
          <a:noFill/>
          <a:ln/>
        </p:spPr>
        <p:txBody>
          <a:bodyPr wrap="square" lIns="0" tIns="0" rIns="0" bIns="0" rtlCol="0" anchor="ctr"/>
          <a:lstStyle/>
          <a:p>
            <a:pPr indent="0" marL="0">
              <a:buNone/>
            </a:pPr>
            <a:r>
              <a:rPr lang="en-US" sz="1200" b="1" dirty="0">
                <a:solidFill>
                  <a:srgbClr val="9FB0C8"/>
                </a:solidFill>
                <a:latin typeface="Arial" pitchFamily="34" charset="0"/>
                <a:ea typeface="Arial" pitchFamily="34" charset="-122"/>
                <a:cs typeface="Arial" pitchFamily="34" charset="-120"/>
              </a:rPr>
              <a:t>International Rate:</a:t>
            </a:r>
            <a:endParaRPr lang="en-US" sz="1200" dirty="0"/>
          </a:p>
        </p:txBody>
      </p:sp>
      <p:sp>
        <p:nvSpPr>
          <p:cNvPr id="25" name="Text 19"/>
          <p:cNvSpPr txBox="1"/>
          <p:nvPr/>
        </p:nvSpPr>
        <p:spPr>
          <a:xfrm>
            <a:off x="7772400" y="4617720"/>
            <a:ext cx="3657600" cy="731520"/>
          </a:xfrm>
          <a:prstGeom prst="rect">
            <a:avLst/>
          </a:prstGeom>
          <a:noFill/>
          <a:ln/>
        </p:spPr>
        <p:txBody>
          <a:bodyPr wrap="square" lIns="0" tIns="0" rIns="0" bIns="0" rtlCol="0" anchor="ctr"/>
          <a:lstStyle/>
          <a:p>
            <a:pPr indent="0" marL="0">
              <a:buNone/>
            </a:pPr>
            <a:r>
              <a:rPr lang="en-US" sz="4000" b="1" dirty="0">
                <a:solidFill>
                  <a:srgbClr val="38BDF8"/>
                </a:solidFill>
                <a:latin typeface="Arial" pitchFamily="34" charset="0"/>
                <a:ea typeface="Arial" pitchFamily="34" charset="-122"/>
                <a:cs typeface="Arial" pitchFamily="34" charset="-120"/>
              </a:rPr>
              <a:t>$43,888</a:t>
            </a:r>
            <a:endParaRPr lang="en-US" sz="4000" dirty="0"/>
          </a:p>
        </p:txBody>
      </p:sp>
      <p:sp>
        <p:nvSpPr>
          <p:cNvPr id="26" name="Text 20"/>
          <p:cNvSpPr txBox="1"/>
          <p:nvPr/>
        </p:nvSpPr>
        <p:spPr>
          <a:xfrm>
            <a:off x="7772400" y="5394960"/>
            <a:ext cx="3657600" cy="640080"/>
          </a:xfrm>
          <a:prstGeom prst="rect">
            <a:avLst/>
          </a:prstGeom>
          <a:noFill/>
          <a:ln/>
        </p:spPr>
        <p:txBody>
          <a:bodyPr wrap="square" lIns="0" tIns="0" rIns="0" bIns="0" rtlCol="0" anchor="t"/>
          <a:lstStyle/>
          <a:p>
            <a:pPr indent="0" marL="0">
              <a:spcAft>
                <a:spcPts val="200"/>
              </a:spcAft>
              <a:buNone/>
            </a:pPr>
            <a:r>
              <a:rPr lang="en-US" sz="1200" dirty="0">
                <a:solidFill>
                  <a:srgbClr val="F1F5F9"/>
                </a:solidFill>
                <a:latin typeface="Arial" pitchFamily="34" charset="0"/>
                <a:ea typeface="Arial" pitchFamily="34" charset="-122"/>
                <a:cs typeface="Arial" pitchFamily="34" charset="-120"/>
              </a:rPr>
              <a:t>Approximately $43,888 CAD per year</a:t>
            </a:r>
            <a:endParaRPr lang="en-US" sz="1200" dirty="0"/>
          </a:p>
          <a:p>
            <a:pPr indent="0" marL="0">
              <a:spcAft>
                <a:spcPts val="200"/>
              </a:spcAft>
              <a:buNone/>
            </a:pPr>
            <a:r>
              <a:rPr lang="en-US" sz="950" u="sng" dirty="0">
                <a:solidFill>
                  <a:srgbClr val="00E5A0"/>
                </a:solidFill>
                <a:latin typeface="Courier New" pitchFamily="34" charset="0"/>
                <a:ea typeface="Courier New" pitchFamily="34" charset="-122"/>
                <a:cs typeface="Courier New"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Source:OntarioTechInternationalTuition</a:t>
            </a:r>
            <a:endParaRPr lang="en-US" sz="1200" dirty="0"/>
          </a:p>
        </p:txBody>
      </p:sp>
      <p:sp>
        <p:nvSpPr>
          <p:cNvPr id="28" name="Text 21"/>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08 / 12</a:t>
            </a:r>
            <a:endParaRPr lang="en-US" sz="1000" dirty="0"/>
          </a:p>
        </p:txBody>
      </p:sp>
      <p:pic>
        <p:nvPicPr>
          <p:cNvPr id="29" name="Image 4" descr="preencoded.png">    </p:cNvPr>
          <p:cNvPicPr>
            <a:picLocks noChangeAspect="1"/>
          </p:cNvPicPr>
          <p:nvPr/>
        </p:nvPicPr>
        <p:blipFill>
          <a:blip r:embed="rId9"/>
          <a:stretch>
            <a:fillRect/>
          </a:stretch>
        </p:blipFill>
        <p:spPr>
          <a:xfrm>
            <a:off x="457200" y="6428232"/>
            <a:ext cx="201168" cy="201168"/>
          </a:xfrm>
          <a:prstGeom prst="rect">
            <a:avLst/>
          </a:prstGeom>
        </p:spPr>
      </p:pic>
      <p:sp>
        <p:nvSpPr>
          <p:cNvPr id="30" name="Shape 22"/>
          <p:cNvSpPr/>
          <p:nvPr/>
        </p:nvSpPr>
        <p:spPr>
          <a:xfrm>
            <a:off x="429768" y="6400800"/>
            <a:ext cx="256032" cy="256032"/>
          </a:xfrm>
          <a:prstGeom prst="ellipse">
            <a:avLst/>
          </a:prstGeom>
          <a:solidFill>
            <a:srgbClr val="00E5A0"/>
          </a:solidFill>
          <a:ln w="12700">
            <a:solidFill>
              <a:srgbClr val="00E5A0"/>
            </a:solidFill>
            <a:prstDash val="solid"/>
          </a:ln>
        </p:spPr>
      </p:sp>
      <p:pic>
        <p:nvPicPr>
          <p:cNvPr id="31" name="Image 5" descr="preencoded.png">    </p:cNvPr>
          <p:cNvPicPr>
            <a:picLocks noChangeAspect="1"/>
          </p:cNvPicPr>
          <p:nvPr/>
        </p:nvPicPr>
        <p:blipFill>
          <a:blip r:embed="rId10"/>
          <a:stretch>
            <a:fillRect/>
          </a:stretch>
        </p:blipFill>
        <p:spPr>
          <a:xfrm>
            <a:off x="484632" y="6455664"/>
            <a:ext cx="146304" cy="146304"/>
          </a:xfrm>
          <a:prstGeom prst="rect">
            <a:avLst/>
          </a:prstGeom>
        </p:spPr>
      </p:pic>
      <p:sp>
        <p:nvSpPr>
          <p:cNvPr id="32" name="Text 23"/>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09  COST OF DORM/FOOD · ADMISSION REQUIREMENTS</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University/College Research</a:t>
            </a:r>
            <a:endParaRPr lang="en-US" sz="3200" dirty="0"/>
          </a:p>
        </p:txBody>
      </p:sp>
      <p:sp>
        <p:nvSpPr>
          <p:cNvPr id="4" name="Text 2"/>
          <p:cNvSpPr txBox="1"/>
          <p:nvPr/>
        </p:nvSpPr>
        <p:spPr>
          <a:xfrm>
            <a:off x="548640" y="1600200"/>
            <a:ext cx="4572000" cy="274320"/>
          </a:xfrm>
          <a:prstGeom prst="rect">
            <a:avLst/>
          </a:prstGeom>
          <a:noFill/>
          <a:ln/>
        </p:spPr>
        <p:txBody>
          <a:bodyPr wrap="square" lIns="0" tIns="0" rIns="0" bIns="0" rtlCol="0" anchor="ctr"/>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6.  Cost of Dorm/Food:</a:t>
            </a:r>
            <a:endParaRPr lang="en-US" sz="1100" dirty="0"/>
          </a:p>
        </p:txBody>
      </p:sp>
      <p:sp>
        <p:nvSpPr>
          <p:cNvPr id="5" name="Shape 3"/>
          <p:cNvSpPr/>
          <p:nvPr/>
        </p:nvSpPr>
        <p:spPr>
          <a:xfrm>
            <a:off x="548640" y="1965960"/>
            <a:ext cx="4480560" cy="2011680"/>
          </a:xfrm>
          <a:prstGeom prst="roundRect">
            <a:avLst>
              <a:gd name="adj" fmla="val 6364"/>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6" name="Shape 4"/>
          <p:cNvSpPr/>
          <p:nvPr/>
        </p:nvSpPr>
        <p:spPr>
          <a:xfrm>
            <a:off x="749808" y="2167128"/>
            <a:ext cx="502920" cy="502920"/>
          </a:xfrm>
          <a:prstGeom prst="ellipse">
            <a:avLst/>
          </a:prstGeom>
          <a:solidFill>
            <a:srgbClr val="38BDF8">
              <a:alpha val="18000"/>
            </a:srgbClr>
          </a:solidFill>
          <a:ln w="9525">
            <a:solidFill>
              <a:srgbClr val="38BDF8">
                <a:alpha val="60000"/>
              </a:srgbClr>
            </a:solidFill>
            <a:prstDash val="solid"/>
          </a:ln>
        </p:spPr>
      </p:sp>
      <p:pic>
        <p:nvPicPr>
          <p:cNvPr id="7" name="Image 0" descr="preencoded.png">    </p:cNvPr>
          <p:cNvPicPr>
            <a:picLocks noChangeAspect="1"/>
          </p:cNvPicPr>
          <p:nvPr/>
        </p:nvPicPr>
        <p:blipFill>
          <a:blip r:embed="rId2"/>
          <a:stretch>
            <a:fillRect/>
          </a:stretch>
        </p:blipFill>
        <p:spPr>
          <a:xfrm>
            <a:off x="885596" y="2302916"/>
            <a:ext cx="231343" cy="231343"/>
          </a:xfrm>
          <a:prstGeom prst="rect">
            <a:avLst/>
          </a:prstGeom>
        </p:spPr>
      </p:pic>
      <p:sp>
        <p:nvSpPr>
          <p:cNvPr id="8" name="Text 5"/>
          <p:cNvSpPr txBox="1"/>
          <p:nvPr/>
        </p:nvSpPr>
        <p:spPr>
          <a:xfrm>
            <a:off x="1371600" y="2167128"/>
            <a:ext cx="34747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Dorm Room (Residence Rates):</a:t>
            </a:r>
            <a:endParaRPr lang="en-US" sz="1300" dirty="0"/>
          </a:p>
        </p:txBody>
      </p:sp>
      <p:sp>
        <p:nvSpPr>
          <p:cNvPr id="9" name="Text 6"/>
          <p:cNvSpPr txBox="1"/>
          <p:nvPr/>
        </p:nvSpPr>
        <p:spPr>
          <a:xfrm>
            <a:off x="749808" y="2788920"/>
            <a:ext cx="4069080" cy="1143000"/>
          </a:xfrm>
          <a:prstGeom prst="rect">
            <a:avLst/>
          </a:prstGeom>
          <a:noFill/>
          <a:ln/>
        </p:spPr>
        <p:txBody>
          <a:bodyPr wrap="square" lIns="0" tIns="0" rIns="0" bIns="0" rtlCol="0" anchor="t"/>
          <a:lstStyle/>
          <a:p>
            <a:pPr indent="0" marL="0">
              <a:spcAft>
                <a:spcPts val="300"/>
              </a:spcAft>
              <a:buNone/>
            </a:pPr>
            <a:r>
              <a:rPr lang="en-US" sz="1250" dirty="0">
                <a:solidFill>
                  <a:srgbClr val="F1F5F9"/>
                </a:solidFill>
                <a:latin typeface="Arial" pitchFamily="34" charset="0"/>
                <a:ea typeface="Arial" pitchFamily="34" charset="-122"/>
                <a:cs typeface="Arial" pitchFamily="34" charset="-120"/>
              </a:rPr>
              <a:t>Room costs range between $8,950 and $9,350 CAD per academic year, depending on the chosen campus building (e.g., South Village or Simcoe Village).</a:t>
            </a:r>
            <a:endParaRPr lang="en-US" sz="1250" dirty="0"/>
          </a:p>
          <a:p>
            <a:pPr indent="0" marL="0">
              <a:spcAft>
                <a:spcPts val="300"/>
              </a:spcAft>
              <a:buNone/>
            </a:pPr>
            <a:r>
              <a:rPr lang="en-US" sz="950" u="sng" dirty="0">
                <a:solidFill>
                  <a:srgbClr val="00E5A0"/>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Source:OntarioTechResidenceRates</a:t>
            </a:r>
            <a:endParaRPr lang="en-US" sz="1250" dirty="0"/>
          </a:p>
        </p:txBody>
      </p:sp>
      <p:sp>
        <p:nvSpPr>
          <p:cNvPr id="10" name="Shape 7"/>
          <p:cNvSpPr/>
          <p:nvPr/>
        </p:nvSpPr>
        <p:spPr>
          <a:xfrm>
            <a:off x="548640" y="4114800"/>
            <a:ext cx="4480560" cy="2011680"/>
          </a:xfrm>
          <a:prstGeom prst="roundRect">
            <a:avLst>
              <a:gd name="adj" fmla="val 6364"/>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1" name="Shape 8"/>
          <p:cNvSpPr/>
          <p:nvPr/>
        </p:nvSpPr>
        <p:spPr>
          <a:xfrm>
            <a:off x="749808" y="4315968"/>
            <a:ext cx="502920" cy="502920"/>
          </a:xfrm>
          <a:prstGeom prst="ellipse">
            <a:avLst/>
          </a:prstGeom>
          <a:solidFill>
            <a:srgbClr val="38BDF8">
              <a:alpha val="18000"/>
            </a:srgbClr>
          </a:solidFill>
          <a:ln w="9525">
            <a:solidFill>
              <a:srgbClr val="38BDF8">
                <a:alpha val="60000"/>
              </a:srgbClr>
            </a:solidFill>
            <a:prstDash val="solid"/>
          </a:ln>
        </p:spPr>
      </p:sp>
      <p:pic>
        <p:nvPicPr>
          <p:cNvPr id="12" name="Image 1" descr="preencoded.png">    </p:cNvPr>
          <p:cNvPicPr>
            <a:picLocks noChangeAspect="1"/>
          </p:cNvPicPr>
          <p:nvPr/>
        </p:nvPicPr>
        <p:blipFill>
          <a:blip r:embed="rId4"/>
          <a:stretch>
            <a:fillRect/>
          </a:stretch>
        </p:blipFill>
        <p:spPr>
          <a:xfrm>
            <a:off x="885596" y="4451756"/>
            <a:ext cx="231343" cy="231343"/>
          </a:xfrm>
          <a:prstGeom prst="rect">
            <a:avLst/>
          </a:prstGeom>
        </p:spPr>
      </p:pic>
      <p:sp>
        <p:nvSpPr>
          <p:cNvPr id="13" name="Text 9"/>
          <p:cNvSpPr txBox="1"/>
          <p:nvPr/>
        </p:nvSpPr>
        <p:spPr>
          <a:xfrm>
            <a:off x="1371600" y="4315968"/>
            <a:ext cx="34747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Food (Meal Plan):</a:t>
            </a:r>
            <a:endParaRPr lang="en-US" sz="1300" dirty="0"/>
          </a:p>
        </p:txBody>
      </p:sp>
      <p:sp>
        <p:nvSpPr>
          <p:cNvPr id="14" name="Text 10"/>
          <p:cNvSpPr txBox="1"/>
          <p:nvPr/>
        </p:nvSpPr>
        <p:spPr>
          <a:xfrm>
            <a:off x="749808" y="4937760"/>
            <a:ext cx="4069080" cy="1143000"/>
          </a:xfrm>
          <a:prstGeom prst="rect">
            <a:avLst/>
          </a:prstGeom>
          <a:noFill/>
          <a:ln/>
        </p:spPr>
        <p:txBody>
          <a:bodyPr wrap="square" lIns="0" tIns="0" rIns="0" bIns="0" rtlCol="0" anchor="t"/>
          <a:lstStyle/>
          <a:p>
            <a:pPr indent="0" marL="0">
              <a:spcAft>
                <a:spcPts val="300"/>
              </a:spcAft>
              <a:buNone/>
            </a:pPr>
            <a:r>
              <a:rPr lang="en-US" sz="1250" dirty="0">
                <a:solidFill>
                  <a:srgbClr val="F1F5F9"/>
                </a:solidFill>
                <a:latin typeface="Arial" pitchFamily="34" charset="0"/>
                <a:ea typeface="Arial" pitchFamily="34" charset="-122"/>
                <a:cs typeface="Arial" pitchFamily="34" charset="-120"/>
              </a:rPr>
              <a:t>A mandatory 7-day unlimited meal plan for South Village residents costs $7,949 CAD per academic year.</a:t>
            </a:r>
            <a:endParaRPr lang="en-US" sz="1250" dirty="0"/>
          </a:p>
          <a:p>
            <a:pPr indent="0" marL="0">
              <a:spcAft>
                <a:spcPts val="300"/>
              </a:spcAft>
              <a:buNone/>
            </a:pPr>
            <a:r>
              <a:rPr lang="en-US" sz="950" u="sng" dirty="0">
                <a:solidFill>
                  <a:srgbClr val="00E5A0"/>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Source:OntarioTechMealPlans</a:t>
            </a:r>
            <a:endParaRPr lang="en-US" sz="1250" dirty="0"/>
          </a:p>
        </p:txBody>
      </p:sp>
      <p:sp>
        <p:nvSpPr>
          <p:cNvPr id="15" name="Text 11"/>
          <p:cNvSpPr txBox="1"/>
          <p:nvPr/>
        </p:nvSpPr>
        <p:spPr>
          <a:xfrm>
            <a:off x="5303520" y="1600200"/>
            <a:ext cx="5486400" cy="274320"/>
          </a:xfrm>
          <a:prstGeom prst="rect">
            <a:avLst/>
          </a:prstGeom>
          <a:noFill/>
          <a:ln/>
        </p:spPr>
        <p:txBody>
          <a:bodyPr wrap="square" lIns="0" tIns="0" rIns="0" bIns="0" rtlCol="0" anchor="ctr"/>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7.  Admission Requirements:</a:t>
            </a:r>
            <a:endParaRPr lang="en-US" sz="1100" dirty="0"/>
          </a:p>
        </p:txBody>
      </p:sp>
      <p:sp>
        <p:nvSpPr>
          <p:cNvPr id="16" name="Shape 12"/>
          <p:cNvSpPr/>
          <p:nvPr/>
        </p:nvSpPr>
        <p:spPr>
          <a:xfrm>
            <a:off x="5303520" y="1965960"/>
            <a:ext cx="6355080" cy="4160520"/>
          </a:xfrm>
          <a:prstGeom prst="roundRect">
            <a:avLst>
              <a:gd name="adj" fmla="val 3077"/>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7" name="Shape 13"/>
          <p:cNvSpPr/>
          <p:nvPr/>
        </p:nvSpPr>
        <p:spPr>
          <a:xfrm>
            <a:off x="5532120" y="2194560"/>
            <a:ext cx="502920" cy="502920"/>
          </a:xfrm>
          <a:prstGeom prst="ellipse">
            <a:avLst/>
          </a:prstGeom>
          <a:solidFill>
            <a:srgbClr val="38BDF8">
              <a:alpha val="18000"/>
            </a:srgbClr>
          </a:solidFill>
          <a:ln w="9525">
            <a:solidFill>
              <a:srgbClr val="38BDF8">
                <a:alpha val="60000"/>
              </a:srgbClr>
            </a:solidFill>
            <a:prstDash val="solid"/>
          </a:ln>
        </p:spPr>
      </p:sp>
      <p:pic>
        <p:nvPicPr>
          <p:cNvPr id="18" name="Image 2" descr="preencoded.png">    </p:cNvPr>
          <p:cNvPicPr>
            <a:picLocks noChangeAspect="1"/>
          </p:cNvPicPr>
          <p:nvPr/>
        </p:nvPicPr>
        <p:blipFill>
          <a:blip r:embed="rId6"/>
          <a:stretch>
            <a:fillRect/>
          </a:stretch>
        </p:blipFill>
        <p:spPr>
          <a:xfrm>
            <a:off x="5667908" y="2330348"/>
            <a:ext cx="231343" cy="231343"/>
          </a:xfrm>
          <a:prstGeom prst="rect">
            <a:avLst/>
          </a:prstGeom>
        </p:spPr>
      </p:pic>
      <p:sp>
        <p:nvSpPr>
          <p:cNvPr id="19" name="Text 14"/>
          <p:cNvSpPr txBox="1"/>
          <p:nvPr/>
        </p:nvSpPr>
        <p:spPr>
          <a:xfrm>
            <a:off x="6217920" y="2194560"/>
            <a:ext cx="5212080" cy="3749040"/>
          </a:xfrm>
          <a:prstGeom prst="rect">
            <a:avLst/>
          </a:prstGeom>
          <a:noFill/>
          <a:ln/>
        </p:spPr>
        <p:txBody>
          <a:bodyPr wrap="square" lIns="0" tIns="0" rIns="0" bIns="0" rtlCol="0" anchor="t"/>
          <a:lstStyle/>
          <a:p>
            <a:pPr indent="0" marL="0">
              <a:spcAft>
                <a:spcPts val="800"/>
              </a:spcAft>
              <a:buNone/>
            </a:pPr>
            <a:r>
              <a:rPr lang="en-US" sz="1200" dirty="0">
                <a:solidFill>
                  <a:srgbClr val="F1F5F9"/>
                </a:solidFill>
                <a:latin typeface="Arial" pitchFamily="34" charset="0"/>
                <a:ea typeface="Arial" pitchFamily="34" charset="-122"/>
                <a:cs typeface="Arial" pitchFamily="34" charset="-120"/>
              </a:rPr>
              <a:t>You must earn your Ontario Secondary School Diploma (OSSD) with at least six Grade 12 U or M level courses </a:t>
            </a:r>
            <a:pPr indent="0" marL="0">
              <a:spcAft>
                <a:spcPts val="800"/>
              </a:spcAft>
              <a:buNone/>
            </a:pPr>
            <a:r>
              <a:rPr lang="en-US" sz="950" u="sng" dirty="0">
                <a:solidFill>
                  <a:srgbClr val="00E5A0"/>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(Source:OntarioTechAcademicCalendar)</a:t>
            </a:r>
            <a:pPr indent="0" marL="0">
              <a:spcAft>
                <a:spcPts val="800"/>
              </a:spcAft>
              <a:buNone/>
            </a:pPr>
            <a:r>
              <a:rPr lang="en-US" sz="1200" dirty="0">
                <a:solidFill>
                  <a:srgbClr val="F1F5F9"/>
                </a:solidFill>
                <a:latin typeface="Arial" pitchFamily="34" charset="0"/>
                <a:ea typeface="Arial" pitchFamily="34" charset="-122"/>
                <a:cs typeface="Arial" pitchFamily="34" charset="-120"/>
              </a:rPr>
              <a:t> These credits must include:</a:t>
            </a:r>
            <a:endParaRPr lang="en-US" sz="1200" dirty="0"/>
          </a:p>
          <a:p>
            <a:pPr marL="342900" indent="-342900">
              <a:spcAft>
                <a:spcPts val="800"/>
              </a:spcAft>
              <a:buSzPct val="100000"/>
              <a:buChar char="•"/>
            </a:pPr>
            <a:r>
              <a:rPr lang="en-US" sz="1200" dirty="0">
                <a:solidFill>
                  <a:srgbClr val="F1F5F9"/>
                </a:solidFill>
                <a:latin typeface="Arial" pitchFamily="34" charset="0"/>
                <a:ea typeface="Arial" pitchFamily="34" charset="-122"/>
                <a:cs typeface="Arial" pitchFamily="34" charset="-120"/>
              </a:rPr>
              <a:t>English (ENG4U) (Minimum recommended average of 60%) </a:t>
            </a:r>
            <a:pPr indent="0" marL="0">
              <a:spcAft>
                <a:spcPts val="800"/>
              </a:spcAft>
              <a:buNone/>
            </a:pPr>
            <a:r>
              <a:rPr lang="en-US" sz="950" u="sng" dirty="0">
                <a:solidFill>
                  <a:srgbClr val="00E5A0"/>
                </a:solidFill>
                <a:latin typeface="Courier New" pitchFamily="34" charset="0"/>
                <a:ea typeface="Courier New" pitchFamily="34" charset="-122"/>
                <a:cs typeface="Courier New" pitchFamily="34" charset="-120"/>
                <a:hlinkClick r:id="rId8" invalidUrl="" action="" tgtFrame="" tooltip="" history="1" highlightClick="0" endSnd="0">
                  <a:extLst>
                    <a:ext uri="{A12FA001-AC4F-418D-AE19-62706E023703}">
                      <ahyp:hlinkClr xmlns:ahyp="http://schemas.microsoft.com/office/drawing/2018/hyperlinkcolor" val="tx"/>
                    </a:ext>
                  </a:extLst>
                </a:hlinkClick>
              </a:rPr>
              <a:t>(Source:OntarioTechAcademicCalendar)</a:t>
            </a:r>
            <a:endParaRPr lang="en-US" sz="1200" dirty="0"/>
          </a:p>
          <a:p>
            <a:pPr marL="342900" indent="-342900">
              <a:spcAft>
                <a:spcPts val="800"/>
              </a:spcAft>
              <a:buSzPct val="100000"/>
              <a:buChar char="•"/>
            </a:pPr>
            <a:r>
              <a:rPr lang="en-US" sz="1200" dirty="0">
                <a:solidFill>
                  <a:srgbClr val="F1F5F9"/>
                </a:solidFill>
                <a:latin typeface="Arial" pitchFamily="34" charset="0"/>
                <a:ea typeface="Arial" pitchFamily="34" charset="-122"/>
                <a:cs typeface="Arial" pitchFamily="34" charset="-120"/>
              </a:rPr>
              <a:t>One Grade 12 Math course: Either Advanced Functions (MHF4U), Calculus and Vectors (MCV4U), or Mathematics of Data Management (MDM4U) (Minimum recommended average of 60%) </a:t>
            </a:r>
            <a:pPr indent="0" marL="0">
              <a:spcAft>
                <a:spcPts val="800"/>
              </a:spcAft>
              <a:buNone/>
            </a:pPr>
            <a:r>
              <a:rPr lang="en-US" sz="950" u="sng" dirty="0">
                <a:solidFill>
                  <a:srgbClr val="00E5A0"/>
                </a:solidFill>
                <a:latin typeface="Courier New" pitchFamily="34" charset="0"/>
                <a:ea typeface="Courier New" pitchFamily="34" charset="-122"/>
                <a:cs typeface="Courier New" pitchFamily="34" charset="-120"/>
                <a:hlinkClick r:id="rId9" invalidUrl="" action="" tgtFrame="" tooltip="" history="1" highlightClick="0" endSnd="0">
                  <a:extLst>
                    <a:ext uri="{A12FA001-AC4F-418D-AE19-62706E023703}">
                      <ahyp:hlinkClr xmlns:ahyp="http://schemas.microsoft.com/office/drawing/2018/hyperlinkcolor" val="tx"/>
                    </a:ext>
                  </a:extLst>
                </a:hlinkClick>
              </a:rPr>
              <a:t>(Source:OntarioTechAcademicCalendar)</a:t>
            </a:r>
            <a:endParaRPr lang="en-US" sz="1200" dirty="0"/>
          </a:p>
          <a:p>
            <a:pPr marL="342900" indent="-342900">
              <a:spcAft>
                <a:spcPts val="800"/>
              </a:spcAft>
              <a:buSzPct val="100000"/>
              <a:buChar char="•"/>
            </a:pPr>
            <a:r>
              <a:rPr lang="en-US" sz="1200" b="1" dirty="0">
                <a:solidFill>
                  <a:srgbClr val="F1F5F9"/>
                </a:solidFill>
                <a:latin typeface="Arial" pitchFamily="34" charset="0"/>
                <a:ea typeface="Arial" pitchFamily="34" charset="-122"/>
                <a:cs typeface="Arial" pitchFamily="34" charset="-120"/>
              </a:rPr>
              <a:t>Alternatively: </a:t>
            </a:r>
            <a:pPr indent="0" marL="0">
              <a:spcAft>
                <a:spcPts val="800"/>
              </a:spcAft>
              <a:buNone/>
            </a:pPr>
            <a:r>
              <a:rPr lang="en-US" sz="1200" dirty="0">
                <a:solidFill>
                  <a:srgbClr val="F1F5F9"/>
                </a:solidFill>
                <a:latin typeface="Arial" pitchFamily="34" charset="0"/>
                <a:ea typeface="Arial" pitchFamily="34" charset="-122"/>
                <a:cs typeface="Arial" pitchFamily="34" charset="-120"/>
              </a:rPr>
              <a:t>Computer Science (ICS4U) can be accepted with a recommended minimum average of 70%. </a:t>
            </a:r>
            <a:pPr indent="0" marL="0">
              <a:spcAft>
                <a:spcPts val="800"/>
              </a:spcAft>
              <a:buNone/>
            </a:pPr>
            <a:r>
              <a:rPr lang="en-US" sz="950" u="sng" dirty="0">
                <a:solidFill>
                  <a:srgbClr val="00E5A0"/>
                </a:solidFill>
                <a:latin typeface="Courier New" pitchFamily="34" charset="0"/>
                <a:ea typeface="Courier New" pitchFamily="34" charset="-122"/>
                <a:cs typeface="Courier New"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(Source:OntarioTechAcademicCalendar)</a:t>
            </a:r>
            <a:endParaRPr lang="en-US" sz="1200" dirty="0"/>
          </a:p>
        </p:txBody>
      </p:sp>
      <p:sp>
        <p:nvSpPr>
          <p:cNvPr id="21" name="Text 15"/>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09 / 12</a:t>
            </a:r>
            <a:endParaRPr lang="en-US" sz="1000" dirty="0"/>
          </a:p>
        </p:txBody>
      </p:sp>
      <p:pic>
        <p:nvPicPr>
          <p:cNvPr id="22" name="Image 3" descr="preencoded.png">    </p:cNvPr>
          <p:cNvPicPr>
            <a:picLocks noChangeAspect="1"/>
          </p:cNvPicPr>
          <p:nvPr/>
        </p:nvPicPr>
        <p:blipFill>
          <a:blip r:embed="rId11"/>
          <a:stretch>
            <a:fillRect/>
          </a:stretch>
        </p:blipFill>
        <p:spPr>
          <a:xfrm>
            <a:off x="457200" y="6428232"/>
            <a:ext cx="201168" cy="201168"/>
          </a:xfrm>
          <a:prstGeom prst="rect">
            <a:avLst/>
          </a:prstGeom>
        </p:spPr>
      </p:pic>
      <p:sp>
        <p:nvSpPr>
          <p:cNvPr id="23" name="Shape 16"/>
          <p:cNvSpPr/>
          <p:nvPr/>
        </p:nvSpPr>
        <p:spPr>
          <a:xfrm>
            <a:off x="429768" y="6400800"/>
            <a:ext cx="256032" cy="256032"/>
          </a:xfrm>
          <a:prstGeom prst="ellipse">
            <a:avLst/>
          </a:prstGeom>
          <a:solidFill>
            <a:srgbClr val="00E5A0"/>
          </a:solidFill>
          <a:ln w="12700">
            <a:solidFill>
              <a:srgbClr val="00E5A0"/>
            </a:solidFill>
            <a:prstDash val="solid"/>
          </a:ln>
        </p:spPr>
      </p:sp>
      <p:pic>
        <p:nvPicPr>
          <p:cNvPr id="24" name="Image 4" descr="preencoded.png">    </p:cNvPr>
          <p:cNvPicPr>
            <a:picLocks noChangeAspect="1"/>
          </p:cNvPicPr>
          <p:nvPr/>
        </p:nvPicPr>
        <p:blipFill>
          <a:blip r:embed="rId12"/>
          <a:stretch>
            <a:fillRect/>
          </a:stretch>
        </p:blipFill>
        <p:spPr>
          <a:xfrm>
            <a:off x="484632" y="6455664"/>
            <a:ext cx="146304" cy="146304"/>
          </a:xfrm>
          <a:prstGeom prst="rect">
            <a:avLst/>
          </a:prstGeom>
        </p:spPr>
      </p:pic>
      <p:sp>
        <p:nvSpPr>
          <p:cNvPr id="25" name="Text 17"/>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10  HOW COMPETITIVE IS IT?</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University/College Research</a:t>
            </a:r>
            <a:endParaRPr lang="en-US" sz="3200" dirty="0"/>
          </a:p>
        </p:txBody>
      </p:sp>
      <p:sp>
        <p:nvSpPr>
          <p:cNvPr id="4" name="Text 2"/>
          <p:cNvSpPr txBox="1"/>
          <p:nvPr/>
        </p:nvSpPr>
        <p:spPr>
          <a:xfrm>
            <a:off x="548640" y="1600200"/>
            <a:ext cx="5486400" cy="274320"/>
          </a:xfrm>
          <a:prstGeom prst="rect">
            <a:avLst/>
          </a:prstGeom>
          <a:noFill/>
          <a:ln/>
        </p:spPr>
        <p:txBody>
          <a:bodyPr wrap="square" lIns="0" tIns="0" rIns="0" bIns="0" rtlCol="0" anchor="ctr"/>
          <a:lstStyle/>
          <a:p>
            <a:pPr indent="0" marL="0">
              <a:buNone/>
            </a:pPr>
            <a:r>
              <a:rPr lang="en-US" sz="1100" spc="100" kern="0" dirty="0">
                <a:solidFill>
                  <a:srgbClr val="38BDF8"/>
                </a:solidFill>
                <a:latin typeface="Courier New" pitchFamily="34" charset="0"/>
                <a:ea typeface="Courier New" pitchFamily="34" charset="-122"/>
                <a:cs typeface="Courier New" pitchFamily="34" charset="-120"/>
              </a:rPr>
              <a:t>8.  How competitive is it?</a:t>
            </a:r>
            <a:endParaRPr lang="en-US" sz="1100" dirty="0"/>
          </a:p>
        </p:txBody>
      </p:sp>
      <p:sp>
        <p:nvSpPr>
          <p:cNvPr id="5" name="Shape 3"/>
          <p:cNvSpPr/>
          <p:nvPr/>
        </p:nvSpPr>
        <p:spPr>
          <a:xfrm>
            <a:off x="548640" y="1965960"/>
            <a:ext cx="7223760" cy="4160520"/>
          </a:xfrm>
          <a:prstGeom prst="roundRect">
            <a:avLst>
              <a:gd name="adj" fmla="val 3077"/>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6" name="Shape 4"/>
          <p:cNvSpPr/>
          <p:nvPr/>
        </p:nvSpPr>
        <p:spPr>
          <a:xfrm>
            <a:off x="777240" y="2194560"/>
            <a:ext cx="502920" cy="502920"/>
          </a:xfrm>
          <a:prstGeom prst="ellipse">
            <a:avLst/>
          </a:prstGeom>
          <a:solidFill>
            <a:srgbClr val="38BDF8">
              <a:alpha val="18000"/>
            </a:srgbClr>
          </a:solidFill>
          <a:ln w="9525">
            <a:solidFill>
              <a:srgbClr val="38BDF8">
                <a:alpha val="60000"/>
              </a:srgbClr>
            </a:solidFill>
            <a:prstDash val="solid"/>
          </a:ln>
        </p:spPr>
      </p:sp>
      <p:pic>
        <p:nvPicPr>
          <p:cNvPr id="7" name="Image 0" descr="preencoded.png">    </p:cNvPr>
          <p:cNvPicPr>
            <a:picLocks noChangeAspect="1"/>
          </p:cNvPicPr>
          <p:nvPr/>
        </p:nvPicPr>
        <p:blipFill>
          <a:blip r:embed="rId2"/>
          <a:stretch>
            <a:fillRect/>
          </a:stretch>
        </p:blipFill>
        <p:spPr>
          <a:xfrm>
            <a:off x="913028" y="2330348"/>
            <a:ext cx="231343" cy="231343"/>
          </a:xfrm>
          <a:prstGeom prst="rect">
            <a:avLst/>
          </a:prstGeom>
        </p:spPr>
      </p:pic>
      <p:sp>
        <p:nvSpPr>
          <p:cNvPr id="8" name="Text 5"/>
          <p:cNvSpPr txBox="1"/>
          <p:nvPr/>
        </p:nvSpPr>
        <p:spPr>
          <a:xfrm>
            <a:off x="1463040" y="2194560"/>
            <a:ext cx="6035040" cy="3749040"/>
          </a:xfrm>
          <a:prstGeom prst="rect">
            <a:avLst/>
          </a:prstGeom>
          <a:noFill/>
          <a:ln/>
        </p:spPr>
        <p:txBody>
          <a:bodyPr wrap="square" lIns="0" tIns="0" rIns="0" bIns="0" rtlCol="0" anchor="t"/>
          <a:lstStyle/>
          <a:p>
            <a:pPr indent="0" marL="0">
              <a:lnSpc>
                <a:spcPct val="115000"/>
              </a:lnSpc>
              <a:spcAft>
                <a:spcPts val="1200"/>
              </a:spcAft>
              <a:buNone/>
            </a:pPr>
            <a:r>
              <a:rPr lang="en-US" sz="1300" b="1" dirty="0">
                <a:solidFill>
                  <a:srgbClr val="FFFFFF"/>
                </a:solidFill>
                <a:latin typeface="Arial" pitchFamily="34" charset="0"/>
                <a:ea typeface="Arial" pitchFamily="34" charset="-122"/>
                <a:cs typeface="Arial" pitchFamily="34" charset="-120"/>
              </a:rPr>
              <a:t>Competition &amp; Marks: </a:t>
            </a:r>
            <a:pPr indent="0" marL="0">
              <a:lnSpc>
                <a:spcPct val="115000"/>
              </a:lnSpc>
              <a:spcAft>
                <a:spcPts val="1200"/>
              </a:spcAft>
              <a:buNone/>
            </a:pPr>
            <a:r>
              <a:rPr lang="en-US" sz="1300" dirty="0">
                <a:solidFill>
                  <a:srgbClr val="F1F5F9"/>
                </a:solidFill>
                <a:latin typeface="Arial" pitchFamily="34" charset="0"/>
                <a:ea typeface="Arial" pitchFamily="34" charset="-122"/>
                <a:cs typeface="Arial" pitchFamily="34" charset="-120"/>
              </a:rPr>
              <a:t>Admission is competitive, and meeting minimum cutoffs does not guarantee a spot </a:t>
            </a:r>
            <a:pPr indent="0" marL="0">
              <a:lnSpc>
                <a:spcPct val="115000"/>
              </a:lnSpc>
              <a:spcAft>
                <a:spcPts val="1200"/>
              </a:spcAft>
              <a:buNone/>
            </a:pPr>
            <a:r>
              <a:rPr lang="en-US" sz="950" u="sng" dirty="0">
                <a:solidFill>
                  <a:srgbClr val="00E5A0"/>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(Source:OntarioTechAcademicCalendar)</a:t>
            </a:r>
            <a:pPr indent="0" marL="0">
              <a:lnSpc>
                <a:spcPct val="115000"/>
              </a:lnSpc>
              <a:spcAft>
                <a:spcPts val="1200"/>
              </a:spcAft>
              <a:buNone/>
            </a:pPr>
            <a:r>
              <a:rPr lang="en-US" sz="1300" dirty="0">
                <a:solidFill>
                  <a:srgbClr val="F1F5F9"/>
                </a:solidFill>
                <a:latin typeface="Arial" pitchFamily="34" charset="0"/>
                <a:ea typeface="Arial" pitchFamily="34" charset="-122"/>
                <a:cs typeface="Arial" pitchFamily="34" charset="-120"/>
              </a:rPr>
              <a:t>. While the overall university acceptance rate hovers around 70%, specialized IT security streams usually expect competitive grade averages ranging from the mid-70s to low-80s across your top six Grade 12 courses </a:t>
            </a:r>
            <a:pPr indent="0" marL="0">
              <a:lnSpc>
                <a:spcPct val="115000"/>
              </a:lnSpc>
              <a:spcAft>
                <a:spcPts val="1200"/>
              </a:spcAft>
              <a:buNone/>
            </a:pPr>
            <a:r>
              <a:rPr lang="en-US" sz="950" u="sng" dirty="0">
                <a:solidFill>
                  <a:srgbClr val="00E5A0"/>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(Source:UniscopeOntarioTechOverview)</a:t>
            </a:r>
            <a:pPr indent="0" marL="0">
              <a:lnSpc>
                <a:spcPct val="115000"/>
              </a:lnSpc>
              <a:spcAft>
                <a:spcPts val="1200"/>
              </a:spcAft>
              <a:buNone/>
            </a:pPr>
            <a:r>
              <a:rPr lang="en-US" sz="1300" dirty="0">
                <a:solidFill>
                  <a:srgbClr val="F1F5F9"/>
                </a:solidFill>
                <a:latin typeface="Arial" pitchFamily="34" charset="0"/>
                <a:ea typeface="Arial" pitchFamily="34" charset="-122"/>
                <a:cs typeface="Arial" pitchFamily="34" charset="-120"/>
              </a:rPr>
              <a:t>.</a:t>
            </a:r>
            <a:endParaRPr lang="en-US" sz="1300" dirty="0"/>
          </a:p>
          <a:p>
            <a:pPr indent="0" marL="0">
              <a:lnSpc>
                <a:spcPct val="115000"/>
              </a:lnSpc>
              <a:spcAft>
                <a:spcPts val="1200"/>
              </a:spcAft>
              <a:buNone/>
            </a:pPr>
            <a:r>
              <a:rPr lang="en-US" sz="1300" b="1" dirty="0">
                <a:solidFill>
                  <a:srgbClr val="FFFFFF"/>
                </a:solidFill>
                <a:latin typeface="Arial" pitchFamily="34" charset="0"/>
                <a:ea typeface="Arial" pitchFamily="34" charset="-122"/>
                <a:cs typeface="Arial" pitchFamily="34" charset="-120"/>
              </a:rPr>
              <a:t>Other helpful entry factors: </a:t>
            </a:r>
            <a:pPr indent="0" marL="0">
              <a:lnSpc>
                <a:spcPct val="115000"/>
              </a:lnSpc>
              <a:spcAft>
                <a:spcPts val="1200"/>
              </a:spcAft>
              <a:buNone/>
            </a:pPr>
            <a:r>
              <a:rPr lang="en-US" sz="1300" dirty="0">
                <a:solidFill>
                  <a:srgbClr val="F1F5F9"/>
                </a:solidFill>
                <a:latin typeface="Arial" pitchFamily="34" charset="0"/>
                <a:ea typeface="Arial" pitchFamily="34" charset="-122"/>
                <a:cs typeface="Arial" pitchFamily="34" charset="-120"/>
              </a:rPr>
              <a:t>The university closely evaluates the specific distribution of subjects you take and your scores in relevant STEM fields </a:t>
            </a:r>
            <a:pPr indent="0" marL="0">
              <a:lnSpc>
                <a:spcPct val="115000"/>
              </a:lnSpc>
              <a:spcAft>
                <a:spcPts val="1200"/>
              </a:spcAft>
              <a:buNone/>
            </a:pPr>
            <a:r>
              <a:rPr lang="en-US" sz="950" u="sng" dirty="0">
                <a:solidFill>
                  <a:srgbClr val="00E5A0"/>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(Source:OntarioTechAcademicCalendar)</a:t>
            </a:r>
            <a:pPr indent="0" marL="0">
              <a:lnSpc>
                <a:spcPct val="115000"/>
              </a:lnSpc>
              <a:spcAft>
                <a:spcPts val="1200"/>
              </a:spcAft>
              <a:buNone/>
            </a:pPr>
            <a:r>
              <a:rPr lang="en-US" sz="1300" dirty="0">
                <a:solidFill>
                  <a:srgbClr val="F1F5F9"/>
                </a:solidFill>
                <a:latin typeface="Arial" pitchFamily="34" charset="0"/>
                <a:ea typeface="Arial" pitchFamily="34" charset="-122"/>
                <a:cs typeface="Arial" pitchFamily="34" charset="-120"/>
              </a:rPr>
              <a:t>. Excelling in independent programming projects, participating in tech high school clubs, or possessing a Specialist High Skills Major (SHSM) in digital media/ICT will strengthen your baseline readiness for the program context.</a:t>
            </a:r>
            <a:endParaRPr lang="en-US" sz="1300" dirty="0"/>
          </a:p>
        </p:txBody>
      </p:sp>
      <p:sp>
        <p:nvSpPr>
          <p:cNvPr id="9" name="Shape 6"/>
          <p:cNvSpPr/>
          <p:nvPr/>
        </p:nvSpPr>
        <p:spPr>
          <a:xfrm>
            <a:off x="8046720" y="1965960"/>
            <a:ext cx="3611880" cy="1874520"/>
          </a:xfrm>
          <a:prstGeom prst="roundRect">
            <a:avLst>
              <a:gd name="adj" fmla="val 6829"/>
            </a:avLst>
          </a:prstGeom>
          <a:solidFill>
            <a:srgbClr val="0F2A26"/>
          </a:solidFill>
          <a:ln w="15875">
            <a:solidFill>
              <a:srgbClr val="00E5A0"/>
            </a:solidFill>
            <a:prstDash val="solid"/>
          </a:ln>
          <a:effectLst>
            <a:outerShdw sx="100000" sy="100000" kx="0" ky="0" algn="bl" rotWithShape="0" blurRad="254000" dist="50800" dir="5400000">
              <a:srgbClr val="00E5A0">
                <a:alpha val="35000"/>
              </a:srgbClr>
            </a:outerShdw>
          </a:effectLst>
        </p:spPr>
      </p:sp>
      <p:sp>
        <p:nvSpPr>
          <p:cNvPr id="10" name="Text 7"/>
          <p:cNvSpPr txBox="1"/>
          <p:nvPr/>
        </p:nvSpPr>
        <p:spPr>
          <a:xfrm>
            <a:off x="8275320" y="2103120"/>
            <a:ext cx="3200400" cy="868680"/>
          </a:xfrm>
          <a:prstGeom prst="rect">
            <a:avLst/>
          </a:prstGeom>
          <a:noFill/>
          <a:ln/>
        </p:spPr>
        <p:txBody>
          <a:bodyPr wrap="square" lIns="0" tIns="0" rIns="0" bIns="0" rtlCol="0" anchor="ctr"/>
          <a:lstStyle/>
          <a:p>
            <a:pPr indent="0" marL="0">
              <a:buNone/>
            </a:pPr>
            <a:r>
              <a:rPr lang="en-US" sz="4800" b="1" dirty="0">
                <a:solidFill>
                  <a:srgbClr val="00E5A0"/>
                </a:solidFill>
                <a:latin typeface="Arial" pitchFamily="34" charset="0"/>
                <a:ea typeface="Arial" pitchFamily="34" charset="-122"/>
                <a:cs typeface="Arial" pitchFamily="34" charset="-120"/>
              </a:rPr>
              <a:t>~70%</a:t>
            </a:r>
            <a:endParaRPr lang="en-US" sz="4800" dirty="0"/>
          </a:p>
        </p:txBody>
      </p:sp>
      <p:sp>
        <p:nvSpPr>
          <p:cNvPr id="11" name="Text 8"/>
          <p:cNvSpPr txBox="1"/>
          <p:nvPr/>
        </p:nvSpPr>
        <p:spPr>
          <a:xfrm>
            <a:off x="8275320" y="2971800"/>
            <a:ext cx="3200400" cy="731520"/>
          </a:xfrm>
          <a:prstGeom prst="rect">
            <a:avLst/>
          </a:prstGeom>
          <a:noFill/>
          <a:ln/>
        </p:spPr>
        <p:txBody>
          <a:bodyPr wrap="square" lIns="0" tIns="0" rIns="0" bIns="0" rtlCol="0" anchor="t"/>
          <a:lstStyle/>
          <a:p>
            <a:pPr indent="0" marL="0">
              <a:buNone/>
            </a:pPr>
            <a:r>
              <a:rPr lang="en-US" sz="1150" i="1" dirty="0">
                <a:solidFill>
                  <a:srgbClr val="9FB0C8"/>
                </a:solidFill>
                <a:latin typeface="Arial" pitchFamily="34" charset="0"/>
                <a:ea typeface="Arial" pitchFamily="34" charset="-122"/>
                <a:cs typeface="Arial" pitchFamily="34" charset="-120"/>
              </a:rPr>
              <a:t>overall university acceptance rate hovers around 70%</a:t>
            </a:r>
            <a:endParaRPr lang="en-US" sz="1150" dirty="0"/>
          </a:p>
        </p:txBody>
      </p:sp>
      <p:sp>
        <p:nvSpPr>
          <p:cNvPr id="12" name="Text 9"/>
          <p:cNvSpPr txBox="1"/>
          <p:nvPr/>
        </p:nvSpPr>
        <p:spPr>
          <a:xfrm>
            <a:off x="8046720" y="4023360"/>
            <a:ext cx="3611880" cy="457200"/>
          </a:xfrm>
          <a:prstGeom prst="rect">
            <a:avLst/>
          </a:prstGeom>
          <a:noFill/>
          <a:ln/>
        </p:spPr>
        <p:txBody>
          <a:bodyPr wrap="square" lIns="0" tIns="0" rIns="0" bIns="0" rtlCol="0" anchor="t"/>
          <a:lstStyle/>
          <a:p>
            <a:pPr indent="0" marL="0">
              <a:buNone/>
            </a:pPr>
            <a:r>
              <a:rPr lang="en-US" sz="1000" spc="100" kern="0" dirty="0">
                <a:solidFill>
                  <a:srgbClr val="38BDF8"/>
                </a:solidFill>
                <a:latin typeface="Courier New" pitchFamily="34" charset="0"/>
                <a:ea typeface="Courier New" pitchFamily="34" charset="-122"/>
                <a:cs typeface="Courier New" pitchFamily="34" charset="-120"/>
              </a:rPr>
              <a:t>9.  Webpage link you got most of the university information:</a:t>
            </a:r>
            <a:endParaRPr lang="en-US" sz="1000" dirty="0"/>
          </a:p>
        </p:txBody>
      </p:sp>
      <p:sp>
        <p:nvSpPr>
          <p:cNvPr id="13" name="Shape 10"/>
          <p:cNvSpPr/>
          <p:nvPr/>
        </p:nvSpPr>
        <p:spPr>
          <a:xfrm>
            <a:off x="8046720" y="4526280"/>
            <a:ext cx="3611880" cy="1600200"/>
          </a:xfrm>
          <a:prstGeom prst="roundRect">
            <a:avLst>
              <a:gd name="adj" fmla="val 8000"/>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pic>
        <p:nvPicPr>
          <p:cNvPr id="14" name="Image 1" descr="preencoded.png">    </p:cNvPr>
          <p:cNvPicPr>
            <a:picLocks noChangeAspect="1"/>
          </p:cNvPicPr>
          <p:nvPr/>
        </p:nvPicPr>
        <p:blipFill>
          <a:blip r:embed="rId6"/>
          <a:stretch>
            <a:fillRect/>
          </a:stretch>
        </p:blipFill>
        <p:spPr>
          <a:xfrm>
            <a:off x="8275320" y="4709160"/>
            <a:ext cx="274320" cy="274320"/>
          </a:xfrm>
          <a:prstGeom prst="rect">
            <a:avLst/>
          </a:prstGeom>
        </p:spPr>
      </p:pic>
      <p:sp>
        <p:nvSpPr>
          <p:cNvPr id="15" name="Text 11"/>
          <p:cNvSpPr txBox="1"/>
          <p:nvPr/>
        </p:nvSpPr>
        <p:spPr>
          <a:xfrm>
            <a:off x="8577072" y="4663440"/>
            <a:ext cx="3017520" cy="1371600"/>
          </a:xfrm>
          <a:prstGeom prst="rect">
            <a:avLst/>
          </a:prstGeom>
          <a:noFill/>
          <a:ln/>
        </p:spPr>
        <p:txBody>
          <a:bodyPr wrap="square" lIns="0" tIns="0" rIns="0" bIns="0" rtlCol="0" anchor="t"/>
          <a:lstStyle/>
          <a:p>
            <a:pPr indent="0" marL="0">
              <a:buNone/>
            </a:pPr>
            <a:r>
              <a:rPr lang="en-US" sz="1050" dirty="0">
                <a:solidFill>
                  <a:srgbClr val="F1F5F9"/>
                </a:solidFill>
                <a:latin typeface="Arial" pitchFamily="34" charset="0"/>
                <a:ea typeface="Arial" pitchFamily="34" charset="-122"/>
                <a:cs typeface="Arial" pitchFamily="34" charset="-120"/>
              </a:rPr>
              <a:t>Most academic, program-specific structures and strict course criteria are directly cited from the </a:t>
            </a:r>
            <a:pPr indent="0" marL="0">
              <a:buNone/>
            </a:pPr>
            <a:r>
              <a:rPr lang="en-US" sz="950" b="1" u="sng" dirty="0">
                <a:solidFill>
                  <a:srgbClr val="38BDF8"/>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Ontario Tech University Program Calendar Guide</a:t>
            </a:r>
            <a:pPr indent="0" marL="0">
              <a:buNone/>
            </a:pPr>
            <a:r>
              <a:rPr lang="en-US" sz="1050" dirty="0">
                <a:solidFill>
                  <a:srgbClr val="F1F5F9"/>
                </a:solidFill>
                <a:latin typeface="Arial" pitchFamily="34" charset="0"/>
                <a:ea typeface="Arial" pitchFamily="34" charset="-122"/>
                <a:cs typeface="Arial" pitchFamily="34" charset="-120"/>
              </a:rPr>
              <a:t>.</a:t>
            </a:r>
            <a:endParaRPr lang="en-US" sz="1050" dirty="0"/>
          </a:p>
        </p:txBody>
      </p:sp>
      <p:sp>
        <p:nvSpPr>
          <p:cNvPr id="17" name="Text 12"/>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10 / 12</a:t>
            </a:r>
            <a:endParaRPr lang="en-US" sz="1000" dirty="0"/>
          </a:p>
        </p:txBody>
      </p:sp>
      <p:pic>
        <p:nvPicPr>
          <p:cNvPr id="18" name="Image 2" descr="preencoded.png">    </p:cNvPr>
          <p:cNvPicPr>
            <a:picLocks noChangeAspect="1"/>
          </p:cNvPicPr>
          <p:nvPr/>
        </p:nvPicPr>
        <p:blipFill>
          <a:blip r:embed="rId8"/>
          <a:stretch>
            <a:fillRect/>
          </a:stretch>
        </p:blipFill>
        <p:spPr>
          <a:xfrm>
            <a:off x="457200" y="6428232"/>
            <a:ext cx="201168" cy="201168"/>
          </a:xfrm>
          <a:prstGeom prst="rect">
            <a:avLst/>
          </a:prstGeom>
        </p:spPr>
      </p:pic>
      <p:sp>
        <p:nvSpPr>
          <p:cNvPr id="19" name="Shape 13"/>
          <p:cNvSpPr/>
          <p:nvPr/>
        </p:nvSpPr>
        <p:spPr>
          <a:xfrm>
            <a:off x="429768" y="6400800"/>
            <a:ext cx="256032" cy="256032"/>
          </a:xfrm>
          <a:prstGeom prst="ellipse">
            <a:avLst/>
          </a:prstGeom>
          <a:solidFill>
            <a:srgbClr val="00E5A0"/>
          </a:solidFill>
          <a:ln w="12700">
            <a:solidFill>
              <a:srgbClr val="00E5A0"/>
            </a:solidFill>
            <a:prstDash val="solid"/>
          </a:ln>
        </p:spPr>
      </p:sp>
      <p:pic>
        <p:nvPicPr>
          <p:cNvPr id="20" name="Image 3" descr="preencoded.png">    </p:cNvPr>
          <p:cNvPicPr>
            <a:picLocks noChangeAspect="1"/>
          </p:cNvPicPr>
          <p:nvPr/>
        </p:nvPicPr>
        <p:blipFill>
          <a:blip r:embed="rId9"/>
          <a:stretch>
            <a:fillRect/>
          </a:stretch>
        </p:blipFill>
        <p:spPr>
          <a:xfrm>
            <a:off x="484632" y="6455664"/>
            <a:ext cx="146304" cy="146304"/>
          </a:xfrm>
          <a:prstGeom prst="rect">
            <a:avLst/>
          </a:prstGeom>
        </p:spPr>
      </p:pic>
      <p:sp>
        <p:nvSpPr>
          <p:cNvPr id="21" name="Text 14"/>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11  MY TAKE ON THE UNIVERSITY</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do you think?</a:t>
            </a:r>
            <a:endParaRPr lang="en-US" sz="3200" dirty="0"/>
          </a:p>
        </p:txBody>
      </p:sp>
      <p:sp>
        <p:nvSpPr>
          <p:cNvPr id="4" name="Shape 2"/>
          <p:cNvSpPr/>
          <p:nvPr/>
        </p:nvSpPr>
        <p:spPr>
          <a:xfrm>
            <a:off x="548640" y="1783080"/>
            <a:ext cx="5394960" cy="4206240"/>
          </a:xfrm>
          <a:prstGeom prst="roundRect">
            <a:avLst>
              <a:gd name="adj" fmla="val 3043"/>
            </a:avLst>
          </a:prstGeom>
          <a:solidFill>
            <a:srgbClr val="0F2A26"/>
          </a:solidFill>
          <a:ln w="12700">
            <a:solidFill>
              <a:srgbClr val="00E5A0"/>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868680" y="2103120"/>
            <a:ext cx="868680" cy="868680"/>
          </a:xfrm>
          <a:prstGeom prst="ellipse">
            <a:avLst/>
          </a:prstGeom>
          <a:solidFill>
            <a:srgbClr val="00E5A0">
              <a:alpha val="20000"/>
            </a:srgbClr>
          </a:solidFill>
          <a:ln w="12700">
            <a:solidFill>
              <a:srgbClr val="00E5A0">
                <a:alpha val="70000"/>
              </a:srgbClr>
            </a:solidFill>
            <a:prstDash val="solid"/>
          </a:ln>
        </p:spPr>
      </p:sp>
      <p:pic>
        <p:nvPicPr>
          <p:cNvPr id="6" name="Image 0" descr="preencoded.png">    </p:cNvPr>
          <p:cNvPicPr>
            <a:picLocks noChangeAspect="1"/>
          </p:cNvPicPr>
          <p:nvPr/>
        </p:nvPicPr>
        <p:blipFill>
          <a:blip r:embed="rId2"/>
          <a:stretch>
            <a:fillRect/>
          </a:stretch>
        </p:blipFill>
        <p:spPr>
          <a:xfrm>
            <a:off x="1097280" y="2331720"/>
            <a:ext cx="411480" cy="411480"/>
          </a:xfrm>
          <a:prstGeom prst="rect">
            <a:avLst/>
          </a:prstGeom>
        </p:spPr>
      </p:pic>
      <p:sp>
        <p:nvSpPr>
          <p:cNvPr id="7" name="Text 4"/>
          <p:cNvSpPr txBox="1"/>
          <p:nvPr/>
        </p:nvSpPr>
        <p:spPr>
          <a:xfrm>
            <a:off x="868680" y="3200400"/>
            <a:ext cx="4754880" cy="685800"/>
          </a:xfrm>
          <a:prstGeom prst="rect">
            <a:avLst/>
          </a:prstGeom>
          <a:noFill/>
          <a:ln/>
        </p:spPr>
        <p:txBody>
          <a:bodyPr wrap="square" lIns="0" tIns="0" rIns="0" bIns="0" rtlCol="0" anchor="t"/>
          <a:lstStyle/>
          <a:p>
            <a:pPr indent="0" marL="0">
              <a:buNone/>
            </a:pPr>
            <a:r>
              <a:rPr lang="en-US" sz="1100" spc="100" kern="0" dirty="0">
                <a:solidFill>
                  <a:srgbClr val="00E5A0"/>
                </a:solidFill>
                <a:latin typeface="Courier New" pitchFamily="34" charset="0"/>
                <a:ea typeface="Courier New" pitchFamily="34" charset="-122"/>
                <a:cs typeface="Courier New" pitchFamily="34" charset="-120"/>
              </a:rPr>
              <a:t>What interests you most about the university? (1 or 2 sentences)</a:t>
            </a:r>
            <a:endParaRPr lang="en-US" sz="1100" dirty="0"/>
          </a:p>
        </p:txBody>
      </p:sp>
      <p:sp>
        <p:nvSpPr>
          <p:cNvPr id="8" name="Text 5"/>
          <p:cNvSpPr txBox="1"/>
          <p:nvPr/>
        </p:nvSpPr>
        <p:spPr>
          <a:xfrm>
            <a:off x="868680" y="3931920"/>
            <a:ext cx="4754880" cy="1828800"/>
          </a:xfrm>
          <a:prstGeom prst="rect">
            <a:avLst/>
          </a:prstGeom>
          <a:noFill/>
          <a:ln/>
        </p:spPr>
        <p:txBody>
          <a:bodyPr wrap="square" lIns="0" tIns="0" rIns="0" bIns="0" rtlCol="0" anchor="t"/>
          <a:lstStyle/>
          <a:p>
            <a:pPr indent="0" marL="0">
              <a:lnSpc>
                <a:spcPct val="115000"/>
              </a:lnSpc>
              <a:buNone/>
            </a:pPr>
            <a:r>
              <a:rPr lang="en-US" sz="1900" dirty="0">
                <a:solidFill>
                  <a:srgbClr val="F1F5F9"/>
                </a:solidFill>
                <a:latin typeface="Arial" pitchFamily="34" charset="0"/>
                <a:ea typeface="Arial" pitchFamily="34" charset="-122"/>
                <a:cs typeface="Arial" pitchFamily="34" charset="-120"/>
              </a:rPr>
              <a:t>It has a nice campus and highly experienced teachers</a:t>
            </a:r>
            <a:endParaRPr lang="en-US" sz="1900" dirty="0"/>
          </a:p>
        </p:txBody>
      </p:sp>
      <p:sp>
        <p:nvSpPr>
          <p:cNvPr id="9" name="Shape 6"/>
          <p:cNvSpPr/>
          <p:nvPr/>
        </p:nvSpPr>
        <p:spPr>
          <a:xfrm>
            <a:off x="6263640" y="1783080"/>
            <a:ext cx="5394960" cy="4206240"/>
          </a:xfrm>
          <a:prstGeom prst="roundRect">
            <a:avLst>
              <a:gd name="adj" fmla="val 3043"/>
            </a:avLst>
          </a:prstGeom>
          <a:solidFill>
            <a:srgbClr val="2A1420"/>
          </a:solidFill>
          <a:ln w="12700">
            <a:solidFill>
              <a:srgbClr val="FB7185"/>
            </a:solidFill>
            <a:prstDash val="solid"/>
          </a:ln>
          <a:effectLst>
            <a:outerShdw sx="100000" sy="100000" kx="0" ky="0" algn="bl" rotWithShape="0" blurRad="177800" dist="63500" dir="5400000">
              <a:srgbClr val="000000">
                <a:alpha val="45000"/>
              </a:srgbClr>
            </a:outerShdw>
          </a:effectLst>
        </p:spPr>
      </p:sp>
      <p:sp>
        <p:nvSpPr>
          <p:cNvPr id="10" name="Shape 7"/>
          <p:cNvSpPr/>
          <p:nvPr/>
        </p:nvSpPr>
        <p:spPr>
          <a:xfrm>
            <a:off x="6583680" y="2103120"/>
            <a:ext cx="868680" cy="868680"/>
          </a:xfrm>
          <a:prstGeom prst="ellipse">
            <a:avLst/>
          </a:prstGeom>
          <a:solidFill>
            <a:srgbClr val="FB7185">
              <a:alpha val="20000"/>
            </a:srgbClr>
          </a:solidFill>
          <a:ln w="12700">
            <a:solidFill>
              <a:srgbClr val="FB7185">
                <a:alpha val="70000"/>
              </a:srgbClr>
            </a:solidFill>
            <a:prstDash val="solid"/>
          </a:ln>
        </p:spPr>
      </p:sp>
      <p:pic>
        <p:nvPicPr>
          <p:cNvPr id="11" name="Image 1" descr="preencoded.png">    </p:cNvPr>
          <p:cNvPicPr>
            <a:picLocks noChangeAspect="1"/>
          </p:cNvPicPr>
          <p:nvPr/>
        </p:nvPicPr>
        <p:blipFill>
          <a:blip r:embed="rId3"/>
          <a:stretch>
            <a:fillRect/>
          </a:stretch>
        </p:blipFill>
        <p:spPr>
          <a:xfrm>
            <a:off x="6812280" y="2331720"/>
            <a:ext cx="411480" cy="411480"/>
          </a:xfrm>
          <a:prstGeom prst="rect">
            <a:avLst/>
          </a:prstGeom>
        </p:spPr>
      </p:pic>
      <p:sp>
        <p:nvSpPr>
          <p:cNvPr id="12" name="Text 8"/>
          <p:cNvSpPr txBox="1"/>
          <p:nvPr/>
        </p:nvSpPr>
        <p:spPr>
          <a:xfrm>
            <a:off x="6583680" y="3200400"/>
            <a:ext cx="4754880" cy="685800"/>
          </a:xfrm>
          <a:prstGeom prst="rect">
            <a:avLst/>
          </a:prstGeom>
          <a:noFill/>
          <a:ln/>
        </p:spPr>
        <p:txBody>
          <a:bodyPr wrap="square" lIns="0" tIns="0" rIns="0" bIns="0" rtlCol="0" anchor="t"/>
          <a:lstStyle/>
          <a:p>
            <a:pPr indent="0" marL="0">
              <a:buNone/>
            </a:pPr>
            <a:r>
              <a:rPr lang="en-US" sz="1100" spc="100" kern="0" dirty="0">
                <a:solidFill>
                  <a:srgbClr val="FB7185"/>
                </a:solidFill>
                <a:latin typeface="Courier New" pitchFamily="34" charset="0"/>
                <a:ea typeface="Courier New" pitchFamily="34" charset="-122"/>
                <a:cs typeface="Courier New" pitchFamily="34" charset="-120"/>
              </a:rPr>
              <a:t>What do you dislike about the university? (1 or 2 sentences)</a:t>
            </a:r>
            <a:endParaRPr lang="en-US" sz="1100" dirty="0"/>
          </a:p>
        </p:txBody>
      </p:sp>
      <p:sp>
        <p:nvSpPr>
          <p:cNvPr id="13" name="Text 9"/>
          <p:cNvSpPr txBox="1"/>
          <p:nvPr/>
        </p:nvSpPr>
        <p:spPr>
          <a:xfrm>
            <a:off x="6583680" y="3931920"/>
            <a:ext cx="4754880" cy="1828800"/>
          </a:xfrm>
          <a:prstGeom prst="rect">
            <a:avLst/>
          </a:prstGeom>
          <a:noFill/>
          <a:ln/>
        </p:spPr>
        <p:txBody>
          <a:bodyPr wrap="square" lIns="0" tIns="0" rIns="0" bIns="0" rtlCol="0" anchor="t"/>
          <a:lstStyle/>
          <a:p>
            <a:pPr indent="0" marL="0">
              <a:lnSpc>
                <a:spcPct val="115000"/>
              </a:lnSpc>
              <a:buNone/>
            </a:pPr>
            <a:r>
              <a:rPr lang="en-US" sz="1900" dirty="0">
                <a:solidFill>
                  <a:srgbClr val="F1F5F9"/>
                </a:solidFill>
                <a:latin typeface="Arial" pitchFamily="34" charset="0"/>
                <a:ea typeface="Arial" pitchFamily="34" charset="-122"/>
                <a:cs typeface="Arial" pitchFamily="34" charset="-120"/>
              </a:rPr>
              <a:t>Its non seventh day adventist and it's quite big</a:t>
            </a:r>
            <a:endParaRPr lang="en-US" sz="1900" dirty="0"/>
          </a:p>
        </p:txBody>
      </p:sp>
      <p:sp>
        <p:nvSpPr>
          <p:cNvPr id="14" name="Text 10"/>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11 / 12</a:t>
            </a:r>
            <a:endParaRPr lang="en-US" sz="1000" dirty="0"/>
          </a:p>
        </p:txBody>
      </p:sp>
      <p:pic>
        <p:nvPicPr>
          <p:cNvPr id="15" name="Image 2" descr="preencoded.png">    </p:cNvPr>
          <p:cNvPicPr>
            <a:picLocks noChangeAspect="1"/>
          </p:cNvPicPr>
          <p:nvPr/>
        </p:nvPicPr>
        <p:blipFill>
          <a:blip r:embed="rId4"/>
          <a:stretch>
            <a:fillRect/>
          </a:stretch>
        </p:blipFill>
        <p:spPr>
          <a:xfrm>
            <a:off x="457200" y="6428232"/>
            <a:ext cx="201168" cy="201168"/>
          </a:xfrm>
          <a:prstGeom prst="rect">
            <a:avLst/>
          </a:prstGeom>
        </p:spPr>
      </p:pic>
      <p:sp>
        <p:nvSpPr>
          <p:cNvPr id="16" name="Shape 11"/>
          <p:cNvSpPr/>
          <p:nvPr/>
        </p:nvSpPr>
        <p:spPr>
          <a:xfrm>
            <a:off x="429768" y="6400800"/>
            <a:ext cx="256032" cy="256032"/>
          </a:xfrm>
          <a:prstGeom prst="ellipse">
            <a:avLst/>
          </a:prstGeom>
          <a:solidFill>
            <a:srgbClr val="00E5A0"/>
          </a:solidFill>
          <a:ln w="12700">
            <a:solidFill>
              <a:srgbClr val="00E5A0"/>
            </a:solidFill>
            <a:prstDash val="solid"/>
          </a:ln>
        </p:spPr>
      </p:sp>
      <p:pic>
        <p:nvPicPr>
          <p:cNvPr id="17" name="Image 3" descr="preencoded.png">    </p:cNvPr>
          <p:cNvPicPr>
            <a:picLocks noChangeAspect="1"/>
          </p:cNvPicPr>
          <p:nvPr/>
        </p:nvPicPr>
        <p:blipFill>
          <a:blip r:embed="rId5"/>
          <a:stretch>
            <a:fillRect/>
          </a:stretch>
        </p:blipFill>
        <p:spPr>
          <a:xfrm>
            <a:off x="484632" y="6455664"/>
            <a:ext cx="146304" cy="146304"/>
          </a:xfrm>
          <a:prstGeom prst="rect">
            <a:avLst/>
          </a:prstGeom>
        </p:spPr>
      </p:pic>
      <p:sp>
        <p:nvSpPr>
          <p:cNvPr id="18" name="Text 12"/>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00" spc="300" kern="0" dirty="0">
                <a:solidFill>
                  <a:srgbClr val="00E5A0"/>
                </a:solidFill>
                <a:latin typeface="Courier New" pitchFamily="34" charset="0"/>
                <a:ea typeface="Courier New" pitchFamily="34" charset="-122"/>
                <a:cs typeface="Courier New" pitchFamily="34" charset="-120"/>
              </a:rPr>
              <a:t>// 12  ARTIFICIAL INTELLIGENCE</a:t>
            </a:r>
            <a:endParaRPr lang="en-US" sz="1100" dirty="0"/>
          </a:p>
        </p:txBody>
      </p:sp>
      <p:sp>
        <p:nvSpPr>
          <p:cNvPr id="3" name="Text 1"/>
          <p:cNvSpPr txBox="1"/>
          <p:nvPr/>
        </p:nvSpPr>
        <p:spPr>
          <a:xfrm>
            <a:off x="548640" y="658368"/>
            <a:ext cx="105156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Emerging Technology</a:t>
            </a:r>
            <a:endParaRPr lang="en-US" sz="3200" dirty="0"/>
          </a:p>
        </p:txBody>
      </p:sp>
      <p:sp>
        <p:nvSpPr>
          <p:cNvPr id="4" name="Shape 2"/>
          <p:cNvSpPr/>
          <p:nvPr/>
        </p:nvSpPr>
        <p:spPr>
          <a:xfrm>
            <a:off x="548640" y="1600200"/>
            <a:ext cx="3611880" cy="4526280"/>
          </a:xfrm>
          <a:prstGeom prst="roundRect">
            <a:avLst>
              <a:gd name="adj" fmla="val 3544"/>
            </a:avLst>
          </a:prstGeom>
          <a:solidFill>
            <a:srgbClr val="111A2E"/>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5" name="Shape 3"/>
          <p:cNvSpPr/>
          <p:nvPr/>
        </p:nvSpPr>
        <p:spPr>
          <a:xfrm>
            <a:off x="777240" y="1828800"/>
            <a:ext cx="502920" cy="502920"/>
          </a:xfrm>
          <a:prstGeom prst="ellipse">
            <a:avLst/>
          </a:prstGeom>
          <a:solidFill>
            <a:srgbClr val="00E5A0">
              <a:alpha val="18000"/>
            </a:srgbClr>
          </a:solidFill>
          <a:ln w="9525">
            <a:solidFill>
              <a:srgbClr val="00E5A0">
                <a:alpha val="60000"/>
              </a:srgbClr>
            </a:solidFill>
            <a:prstDash val="solid"/>
          </a:ln>
        </p:spPr>
      </p:sp>
      <p:pic>
        <p:nvPicPr>
          <p:cNvPr id="6" name="Image 0" descr="preencoded.png">    </p:cNvPr>
          <p:cNvPicPr>
            <a:picLocks noChangeAspect="1"/>
          </p:cNvPicPr>
          <p:nvPr/>
        </p:nvPicPr>
        <p:blipFill>
          <a:blip r:embed="rId2"/>
          <a:stretch>
            <a:fillRect/>
          </a:stretch>
        </p:blipFill>
        <p:spPr>
          <a:xfrm>
            <a:off x="913028" y="1964588"/>
            <a:ext cx="231343" cy="231343"/>
          </a:xfrm>
          <a:prstGeom prst="rect">
            <a:avLst/>
          </a:prstGeom>
        </p:spPr>
      </p:pic>
      <p:sp>
        <p:nvSpPr>
          <p:cNvPr id="7" name="Text 4"/>
          <p:cNvSpPr txBox="1"/>
          <p:nvPr/>
        </p:nvSpPr>
        <p:spPr>
          <a:xfrm>
            <a:off x="1417320" y="1828800"/>
            <a:ext cx="2560320" cy="502920"/>
          </a:xfrm>
          <a:prstGeom prst="rect">
            <a:avLst/>
          </a:prstGeom>
          <a:noFill/>
          <a:ln/>
        </p:spPr>
        <p:txBody>
          <a:bodyPr wrap="square" lIns="0" tIns="0" rIns="0" bIns="0" rtlCol="0" anchor="ctr"/>
          <a:lstStyle/>
          <a:p>
            <a:pPr indent="0" marL="0">
              <a:buNone/>
            </a:pPr>
            <a:r>
              <a:rPr lang="en-US" sz="1000" spc="100" kern="0" dirty="0">
                <a:solidFill>
                  <a:srgbClr val="38BDF8"/>
                </a:solidFill>
                <a:latin typeface="Courier New" pitchFamily="34" charset="0"/>
                <a:ea typeface="Courier New" pitchFamily="34" charset="-122"/>
                <a:cs typeface="Courier New" pitchFamily="34" charset="-120"/>
              </a:rPr>
              <a:t>Find an article related to AI.</a:t>
            </a:r>
            <a:endParaRPr lang="en-US" sz="1000" dirty="0"/>
          </a:p>
        </p:txBody>
      </p:sp>
      <p:sp>
        <p:nvSpPr>
          <p:cNvPr id="8" name="Shape 5"/>
          <p:cNvSpPr/>
          <p:nvPr/>
        </p:nvSpPr>
        <p:spPr>
          <a:xfrm>
            <a:off x="777240" y="2468880"/>
            <a:ext cx="3154680" cy="457200"/>
          </a:xfrm>
          <a:prstGeom prst="roundRect">
            <a:avLst>
              <a:gd name="adj" fmla="val 50000"/>
            </a:avLst>
          </a:prstGeom>
          <a:solidFill>
            <a:srgbClr val="00E5A0">
              <a:alpha val="15000"/>
            </a:srgbClr>
          </a:solidFill>
          <a:ln w="9525">
            <a:solidFill>
              <a:srgbClr val="00E5A0">
                <a:alpha val="70000"/>
              </a:srgbClr>
            </a:solidFill>
            <a:prstDash val="solid"/>
          </a:ln>
        </p:spPr>
      </p:sp>
      <p:sp>
        <p:nvSpPr>
          <p:cNvPr id="9" name="Text 6"/>
          <p:cNvSpPr txBox="1"/>
          <p:nvPr/>
        </p:nvSpPr>
        <p:spPr>
          <a:xfrm>
            <a:off x="914400" y="2468880"/>
            <a:ext cx="2880360" cy="457200"/>
          </a:xfrm>
          <a:prstGeom prst="rect">
            <a:avLst/>
          </a:prstGeom>
          <a:noFill/>
          <a:ln/>
        </p:spPr>
        <p:txBody>
          <a:bodyPr wrap="square" lIns="0" tIns="0" rIns="0" bIns="0" rtlCol="0" anchor="ctr"/>
          <a:lstStyle/>
          <a:p>
            <a:pPr algn="ctr" indent="0" marL="0">
              <a:buNone/>
            </a:pPr>
            <a:r>
              <a:rPr lang="en-US" sz="1250" b="1" i="1" u="sng" dirty="0">
                <a:solidFill>
                  <a:srgbClr val="00E5A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 Is at a Turning Point"</a:t>
            </a:r>
            <a:endParaRPr lang="en-US" sz="1250" dirty="0"/>
          </a:p>
        </p:txBody>
      </p:sp>
      <p:sp>
        <p:nvSpPr>
          <p:cNvPr id="10" name="Text 7"/>
          <p:cNvSpPr txBox="1"/>
          <p:nvPr/>
        </p:nvSpPr>
        <p:spPr>
          <a:xfrm>
            <a:off x="777240" y="3108960"/>
            <a:ext cx="3154680" cy="2926080"/>
          </a:xfrm>
          <a:prstGeom prst="rect">
            <a:avLst/>
          </a:prstGeom>
          <a:noFill/>
          <a:ln/>
        </p:spPr>
        <p:txBody>
          <a:bodyPr wrap="square" lIns="0" tIns="0" rIns="0" bIns="0" rtlCol="0" anchor="t"/>
          <a:lstStyle/>
          <a:p>
            <a:pPr indent="0" marL="0">
              <a:lnSpc>
                <a:spcPct val="110000"/>
              </a:lnSpc>
              <a:spcAft>
                <a:spcPts val="600"/>
              </a:spcAft>
              <a:buNone/>
            </a:pPr>
            <a:r>
              <a:rPr lang="en-US" sz="1000" spc="100" kern="0" dirty="0">
                <a:solidFill>
                  <a:srgbClr val="38BDF8"/>
                </a:solidFill>
                <a:latin typeface="Courier New" pitchFamily="34" charset="0"/>
                <a:ea typeface="Courier New" pitchFamily="34" charset="-122"/>
                <a:cs typeface="Courier New" pitchFamily="34" charset="-120"/>
              </a:rPr>
              <a:t>Give a brief summary of the article.</a:t>
            </a:r>
            <a:endParaRPr lang="en-US" sz="1000" dirty="0"/>
          </a:p>
          <a:p>
            <a:pPr indent="0" marL="0">
              <a:lnSpc>
                <a:spcPct val="110000"/>
              </a:lnSpc>
              <a:spcAft>
                <a:spcPts val="600"/>
              </a:spcAft>
              <a:buNone/>
            </a:pPr>
            <a:r>
              <a:rPr lang="en-US" sz="1200" dirty="0">
                <a:solidFill>
                  <a:srgbClr val="F1F5F9"/>
                </a:solidFill>
                <a:latin typeface="Arial" pitchFamily="34" charset="0"/>
                <a:ea typeface="Arial" pitchFamily="34" charset="-122"/>
                <a:cs typeface="Arial" pitchFamily="34" charset="-120"/>
              </a:rPr>
              <a:t>Ai went from basic sentences articulation to advanced multi step processes. This has lead to findings that shock researchers when testing models that show resistance to deletion. Bengio even shares that some ai is fabricating online identities and social engineering.</a:t>
            </a:r>
            <a:endParaRPr lang="en-US" sz="1000" dirty="0"/>
          </a:p>
        </p:txBody>
      </p:sp>
      <p:sp>
        <p:nvSpPr>
          <p:cNvPr id="11" name="Shape 8"/>
          <p:cNvSpPr/>
          <p:nvPr/>
        </p:nvSpPr>
        <p:spPr>
          <a:xfrm>
            <a:off x="4389120" y="1600200"/>
            <a:ext cx="3611880" cy="4526280"/>
          </a:xfrm>
          <a:prstGeom prst="roundRect">
            <a:avLst>
              <a:gd name="adj" fmla="val 3544"/>
            </a:avLst>
          </a:prstGeom>
          <a:solidFill>
            <a:srgbClr val="0F2A26"/>
          </a:solidFill>
          <a:ln w="12700">
            <a:solidFill>
              <a:srgbClr val="00E5A0"/>
            </a:solidFill>
            <a:prstDash val="solid"/>
          </a:ln>
          <a:effectLst>
            <a:outerShdw sx="100000" sy="100000" kx="0" ky="0" algn="bl" rotWithShape="0" blurRad="254000" dist="50800" dir="5400000">
              <a:srgbClr val="00E5A0">
                <a:alpha val="35000"/>
              </a:srgbClr>
            </a:outerShdw>
          </a:effectLst>
        </p:spPr>
      </p:sp>
      <p:sp>
        <p:nvSpPr>
          <p:cNvPr id="12" name="Shape 9"/>
          <p:cNvSpPr/>
          <p:nvPr/>
        </p:nvSpPr>
        <p:spPr>
          <a:xfrm>
            <a:off x="4617720" y="1828800"/>
            <a:ext cx="502920" cy="502920"/>
          </a:xfrm>
          <a:prstGeom prst="ellipse">
            <a:avLst/>
          </a:prstGeom>
          <a:solidFill>
            <a:srgbClr val="00E5A0">
              <a:alpha val="18000"/>
            </a:srgbClr>
          </a:solidFill>
          <a:ln w="9525">
            <a:solidFill>
              <a:srgbClr val="00E5A0">
                <a:alpha val="60000"/>
              </a:srgbClr>
            </a:solidFill>
            <a:prstDash val="solid"/>
          </a:ln>
        </p:spPr>
      </p:sp>
      <p:pic>
        <p:nvPicPr>
          <p:cNvPr id="13" name="Image 1" descr="preencoded.png">    </p:cNvPr>
          <p:cNvPicPr>
            <a:picLocks noChangeAspect="1"/>
          </p:cNvPicPr>
          <p:nvPr/>
        </p:nvPicPr>
        <p:blipFill>
          <a:blip r:embed="rId4"/>
          <a:stretch>
            <a:fillRect/>
          </a:stretch>
        </p:blipFill>
        <p:spPr>
          <a:xfrm>
            <a:off x="4753508" y="1964588"/>
            <a:ext cx="231343" cy="231343"/>
          </a:xfrm>
          <a:prstGeom prst="rect">
            <a:avLst/>
          </a:prstGeom>
        </p:spPr>
      </p:pic>
      <p:sp>
        <p:nvSpPr>
          <p:cNvPr id="14" name="Text 10"/>
          <p:cNvSpPr txBox="1"/>
          <p:nvPr/>
        </p:nvSpPr>
        <p:spPr>
          <a:xfrm>
            <a:off x="5257800" y="1828800"/>
            <a:ext cx="2560320" cy="502920"/>
          </a:xfrm>
          <a:prstGeom prst="rect">
            <a:avLst/>
          </a:prstGeom>
          <a:noFill/>
          <a:ln/>
        </p:spPr>
        <p:txBody>
          <a:bodyPr wrap="square" lIns="0" tIns="0" rIns="0" bIns="0" rtlCol="0" anchor="ctr"/>
          <a:lstStyle/>
          <a:p>
            <a:pPr indent="0" marL="0">
              <a:buNone/>
            </a:pPr>
            <a:r>
              <a:rPr lang="en-US" sz="1000" spc="100" kern="0" dirty="0">
                <a:solidFill>
                  <a:srgbClr val="38BDF8"/>
                </a:solidFill>
                <a:latin typeface="Courier New" pitchFamily="34" charset="0"/>
                <a:ea typeface="Courier New" pitchFamily="34" charset="-122"/>
                <a:cs typeface="Courier New" pitchFamily="34" charset="-120"/>
              </a:rPr>
              <a:t>What are your thought on it?</a:t>
            </a:r>
            <a:endParaRPr lang="en-US" sz="1000" dirty="0"/>
          </a:p>
        </p:txBody>
      </p:sp>
      <p:sp>
        <p:nvSpPr>
          <p:cNvPr id="15" name="Text 11"/>
          <p:cNvSpPr txBox="1"/>
          <p:nvPr/>
        </p:nvSpPr>
        <p:spPr>
          <a:xfrm>
            <a:off x="4572000" y="2377440"/>
            <a:ext cx="731520" cy="822960"/>
          </a:xfrm>
          <a:prstGeom prst="rect">
            <a:avLst/>
          </a:prstGeom>
          <a:noFill/>
          <a:ln/>
        </p:spPr>
        <p:txBody>
          <a:bodyPr wrap="square" lIns="0" tIns="0" rIns="0" bIns="0" rtlCol="0" anchor="ctr"/>
          <a:lstStyle/>
          <a:p>
            <a:pPr indent="0" marL="0">
              <a:buNone/>
            </a:pPr>
            <a:r>
              <a:rPr lang="en-US" sz="7200" dirty="0">
                <a:solidFill>
                  <a:srgbClr val="00E5A0">
                    <a:alpha val="60000"/>
                  </a:srgbClr>
                </a:solidFill>
                <a:latin typeface="Cambria" pitchFamily="34" charset="0"/>
                <a:ea typeface="Cambria" pitchFamily="34" charset="-122"/>
                <a:cs typeface="Cambria" pitchFamily="34" charset="-120"/>
              </a:rPr>
              <a:t>“</a:t>
            </a:r>
            <a:endParaRPr lang="en-US" sz="7200" dirty="0"/>
          </a:p>
        </p:txBody>
      </p:sp>
      <p:sp>
        <p:nvSpPr>
          <p:cNvPr id="16" name="Text 12"/>
          <p:cNvSpPr txBox="1"/>
          <p:nvPr/>
        </p:nvSpPr>
        <p:spPr>
          <a:xfrm>
            <a:off x="4663440" y="3017520"/>
            <a:ext cx="3063240" cy="2926080"/>
          </a:xfrm>
          <a:prstGeom prst="rect">
            <a:avLst/>
          </a:prstGeom>
          <a:noFill/>
          <a:ln/>
        </p:spPr>
        <p:txBody>
          <a:bodyPr wrap="square" lIns="0" tIns="0" rIns="0" bIns="0" rtlCol="0" anchor="t"/>
          <a:lstStyle/>
          <a:p>
            <a:pPr indent="0" marL="0">
              <a:lnSpc>
                <a:spcPct val="120000"/>
              </a:lnSpc>
              <a:buNone/>
            </a:pPr>
            <a:r>
              <a:rPr lang="en-US" sz="1500" dirty="0">
                <a:solidFill>
                  <a:srgbClr val="F1F5F9"/>
                </a:solidFill>
                <a:latin typeface="Arial" pitchFamily="34" charset="0"/>
                <a:ea typeface="Arial" pitchFamily="34" charset="-122"/>
                <a:cs typeface="Arial" pitchFamily="34" charset="-120"/>
              </a:rPr>
              <a:t>Ai is one of the most advanced and useful tools humanity will ever create but if not use with proper safeguards we may engineer destruction instead of prosperity.</a:t>
            </a:r>
            <a:endParaRPr lang="en-US" sz="1500" dirty="0"/>
          </a:p>
        </p:txBody>
      </p:sp>
      <p:sp>
        <p:nvSpPr>
          <p:cNvPr id="17" name="Shape 13"/>
          <p:cNvSpPr/>
          <p:nvPr/>
        </p:nvSpPr>
        <p:spPr>
          <a:xfrm>
            <a:off x="8229600" y="1600200"/>
            <a:ext cx="3611880" cy="4526280"/>
          </a:xfrm>
          <a:prstGeom prst="roundRect">
            <a:avLst>
              <a:gd name="adj" fmla="val 3544"/>
            </a:avLst>
          </a:prstGeom>
          <a:solidFill>
            <a:srgbClr val="0D1526"/>
          </a:solidFill>
          <a:ln w="9525">
            <a:solidFill>
              <a:srgbClr val="23304A"/>
            </a:solidFill>
            <a:prstDash val="solid"/>
          </a:ln>
          <a:effectLst>
            <a:outerShdw sx="100000" sy="100000" kx="0" ky="0" algn="bl" rotWithShape="0" blurRad="177800" dist="63500" dir="5400000">
              <a:srgbClr val="000000">
                <a:alpha val="45000"/>
              </a:srgbClr>
            </a:outerShdw>
          </a:effectLst>
        </p:spPr>
      </p:sp>
      <p:sp>
        <p:nvSpPr>
          <p:cNvPr id="18" name="Shape 14"/>
          <p:cNvSpPr/>
          <p:nvPr/>
        </p:nvSpPr>
        <p:spPr>
          <a:xfrm>
            <a:off x="8458200" y="1828800"/>
            <a:ext cx="502920" cy="502920"/>
          </a:xfrm>
          <a:prstGeom prst="ellipse">
            <a:avLst/>
          </a:prstGeom>
          <a:solidFill>
            <a:srgbClr val="00E5A0">
              <a:alpha val="18000"/>
            </a:srgbClr>
          </a:solidFill>
          <a:ln w="9525">
            <a:solidFill>
              <a:srgbClr val="00E5A0">
                <a:alpha val="60000"/>
              </a:srgbClr>
            </a:solidFill>
            <a:prstDash val="solid"/>
          </a:ln>
        </p:spPr>
      </p:sp>
      <p:pic>
        <p:nvPicPr>
          <p:cNvPr id="19" name="Image 2" descr="preencoded.png">    </p:cNvPr>
          <p:cNvPicPr>
            <a:picLocks noChangeAspect="1"/>
          </p:cNvPicPr>
          <p:nvPr/>
        </p:nvPicPr>
        <p:blipFill>
          <a:blip r:embed="rId5"/>
          <a:stretch>
            <a:fillRect/>
          </a:stretch>
        </p:blipFill>
        <p:spPr>
          <a:xfrm>
            <a:off x="8593988" y="1964588"/>
            <a:ext cx="231343" cy="231343"/>
          </a:xfrm>
          <a:prstGeom prst="rect">
            <a:avLst/>
          </a:prstGeom>
        </p:spPr>
      </p:pic>
      <p:sp>
        <p:nvSpPr>
          <p:cNvPr id="20" name="Text 15"/>
          <p:cNvSpPr txBox="1"/>
          <p:nvPr/>
        </p:nvSpPr>
        <p:spPr>
          <a:xfrm>
            <a:off x="9098280" y="1828800"/>
            <a:ext cx="2560320" cy="502920"/>
          </a:xfrm>
          <a:prstGeom prst="rect">
            <a:avLst/>
          </a:prstGeom>
          <a:noFill/>
          <a:ln/>
        </p:spPr>
        <p:txBody>
          <a:bodyPr wrap="square" lIns="0" tIns="0" rIns="0" bIns="0" rtlCol="0" anchor="ctr"/>
          <a:lstStyle/>
          <a:p>
            <a:pPr indent="0" marL="0">
              <a:buNone/>
            </a:pPr>
            <a:r>
              <a:rPr lang="en-US" sz="1000" spc="100" kern="0" dirty="0">
                <a:solidFill>
                  <a:srgbClr val="38BDF8"/>
                </a:solidFill>
                <a:latin typeface="Courier New" pitchFamily="34" charset="0"/>
                <a:ea typeface="Courier New" pitchFamily="34" charset="-122"/>
                <a:cs typeface="Courier New" pitchFamily="34" charset="-120"/>
              </a:rPr>
              <a:t>How is AI affecting the Job industry you have chosen?</a:t>
            </a:r>
            <a:endParaRPr lang="en-US" sz="1000" dirty="0"/>
          </a:p>
        </p:txBody>
      </p:sp>
      <p:sp>
        <p:nvSpPr>
          <p:cNvPr id="21" name="Text 16"/>
          <p:cNvSpPr txBox="1"/>
          <p:nvPr/>
        </p:nvSpPr>
        <p:spPr>
          <a:xfrm>
            <a:off x="8458200" y="2468880"/>
            <a:ext cx="3154680" cy="347472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Neurosurgery is and advanced field that vary rarely proceeds without brain scans, Ai can now read CT and mri scans of the brain and predict a diagnosis better than any human ever will allowing surgeons to spend more time actually fixing the problem rather than thinking about it.</a:t>
            </a:r>
            <a:endParaRPr lang="en-US" sz="1250" dirty="0"/>
          </a:p>
        </p:txBody>
      </p:sp>
      <p:sp>
        <p:nvSpPr>
          <p:cNvPr id="23" name="Text 17"/>
          <p:cNvSpPr txBox="1"/>
          <p:nvPr/>
        </p:nvSpPr>
        <p:spPr>
          <a:xfrm>
            <a:off x="10362895" y="6400800"/>
            <a:ext cx="13716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ourier New" pitchFamily="34" charset="0"/>
                <a:ea typeface="Courier New" pitchFamily="34" charset="-122"/>
                <a:cs typeface="Courier New" pitchFamily="34" charset="-120"/>
              </a:rPr>
              <a:t>12 / 12</a:t>
            </a:r>
            <a:endParaRPr lang="en-US" sz="1000" dirty="0"/>
          </a:p>
        </p:txBody>
      </p:sp>
      <p:pic>
        <p:nvPicPr>
          <p:cNvPr id="24" name="Image 3" descr="preencoded.png">    </p:cNvPr>
          <p:cNvPicPr>
            <a:picLocks noChangeAspect="1"/>
          </p:cNvPicPr>
          <p:nvPr/>
        </p:nvPicPr>
        <p:blipFill>
          <a:blip r:embed="rId6"/>
          <a:stretch>
            <a:fillRect/>
          </a:stretch>
        </p:blipFill>
        <p:spPr>
          <a:xfrm>
            <a:off x="457200" y="6428232"/>
            <a:ext cx="201168" cy="201168"/>
          </a:xfrm>
          <a:prstGeom prst="rect">
            <a:avLst/>
          </a:prstGeom>
        </p:spPr>
      </p:pic>
      <p:sp>
        <p:nvSpPr>
          <p:cNvPr id="25" name="Shape 18"/>
          <p:cNvSpPr/>
          <p:nvPr/>
        </p:nvSpPr>
        <p:spPr>
          <a:xfrm>
            <a:off x="429768" y="6400800"/>
            <a:ext cx="256032" cy="256032"/>
          </a:xfrm>
          <a:prstGeom prst="ellipse">
            <a:avLst/>
          </a:prstGeom>
          <a:solidFill>
            <a:srgbClr val="00E5A0"/>
          </a:solidFill>
          <a:ln w="12700">
            <a:solidFill>
              <a:srgbClr val="00E5A0"/>
            </a:solidFill>
            <a:prstDash val="solid"/>
          </a:ln>
        </p:spPr>
      </p:sp>
      <p:pic>
        <p:nvPicPr>
          <p:cNvPr id="26" name="Image 4" descr="preencoded.png">    </p:cNvPr>
          <p:cNvPicPr>
            <a:picLocks noChangeAspect="1"/>
          </p:cNvPicPr>
          <p:nvPr/>
        </p:nvPicPr>
        <p:blipFill>
          <a:blip r:embed="rId7"/>
          <a:stretch>
            <a:fillRect/>
          </a:stretch>
        </p:blipFill>
        <p:spPr>
          <a:xfrm>
            <a:off x="484632" y="6455664"/>
            <a:ext cx="146304" cy="146304"/>
          </a:xfrm>
          <a:prstGeom prst="rect">
            <a:avLst/>
          </a:prstGeom>
        </p:spPr>
      </p:pic>
      <p:sp>
        <p:nvSpPr>
          <p:cNvPr id="27" name="Text 19"/>
          <p:cNvSpPr txBox="1"/>
          <p:nvPr/>
        </p:nvSpPr>
        <p:spPr>
          <a:xfrm>
            <a:off x="777240" y="6400800"/>
            <a:ext cx="2743200" cy="256032"/>
          </a:xfrm>
          <a:prstGeom prst="rect">
            <a:avLst/>
          </a:prstGeom>
          <a:noFill/>
          <a:ln/>
        </p:spPr>
        <p:txBody>
          <a:bodyPr wrap="square" lIns="0" tIns="0" rIns="0" bIns="0" rtlCol="0" anchor="ctr"/>
          <a:lstStyle/>
          <a:p>
            <a:pPr indent="0" marL="0">
              <a:buNone/>
            </a:pPr>
            <a:r>
              <a:rPr lang="en-US" sz="900" spc="200" kern="0" dirty="0">
                <a:solidFill>
                  <a:srgbClr val="5B6B85"/>
                </a:solidFill>
                <a:latin typeface="Courier New" pitchFamily="34" charset="0"/>
                <a:ea typeface="Courier New" pitchFamily="34" charset="-122"/>
                <a:cs typeface="Courier New" pitchFamily="34" charset="-120"/>
              </a:rPr>
              <a:t>CAREER RESEARCH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Research</dc:title>
  <dc:subject>PptxGenJS Presentation</dc:subject>
  <dc:creator>Nathaniel Hatendi</dc:creator>
  <cp:lastModifiedBy>Nathaniel Hatendi</cp:lastModifiedBy>
  <cp:revision>1</cp:revision>
  <dcterms:created xsi:type="dcterms:W3CDTF">2026-09-09T14:36:52Z</dcterms:created>
  <dcterms:modified xsi:type="dcterms:W3CDTF">2026-09-09T14:36:52Z</dcterms:modified>
</cp:coreProperties>
</file>